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4" r:id="rId9"/>
    <p:sldId id="266" r:id="rId10"/>
    <p:sldId id="267" r:id="rId11"/>
    <p:sldId id="277" r:id="rId12"/>
    <p:sldId id="279" r:id="rId13"/>
    <p:sldId id="268" r:id="rId14"/>
    <p:sldId id="269" r:id="rId15"/>
    <p:sldId id="270" r:id="rId16"/>
    <p:sldId id="271" r:id="rId17"/>
    <p:sldId id="272" r:id="rId18"/>
    <p:sldId id="273" r:id="rId19"/>
    <p:sldId id="265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11" Type="http://schemas.openxmlformats.org/officeDocument/2006/relationships/image" Target="../media/image15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23.png"/><Relationship Id="rId3" Type="http://schemas.openxmlformats.org/officeDocument/2006/relationships/image" Target="../media/image31.png"/><Relationship Id="rId7" Type="http://schemas.openxmlformats.org/officeDocument/2006/relationships/image" Target="../media/image19.png"/><Relationship Id="rId12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22.png"/><Relationship Id="rId5" Type="http://schemas.openxmlformats.org/officeDocument/2006/relationships/image" Target="../media/image33.png"/><Relationship Id="rId10" Type="http://schemas.openxmlformats.org/officeDocument/2006/relationships/image" Target="../media/image21.png"/><Relationship Id="rId4" Type="http://schemas.openxmlformats.org/officeDocument/2006/relationships/image" Target="../media/image32.png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9A90A0-463D-7D2E-154A-2C1D2C3386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98130"/>
            <a:ext cx="8791576" cy="1483185"/>
          </a:xfrm>
        </p:spPr>
        <p:txBody>
          <a:bodyPr/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Proyecto </a:t>
            </a:r>
            <a:r>
              <a:rPr lang="es-ES" dirty="0" err="1">
                <a:solidFill>
                  <a:schemeClr val="bg1"/>
                </a:solidFill>
              </a:rPr>
              <a:t>iot</a:t>
            </a:r>
            <a:r>
              <a:rPr lang="es-ES" dirty="0">
                <a:solidFill>
                  <a:schemeClr val="bg1"/>
                </a:solidFill>
              </a:rPr>
              <a:t> con home </a:t>
            </a:r>
            <a:r>
              <a:rPr lang="es-ES" dirty="0" err="1">
                <a:solidFill>
                  <a:schemeClr val="bg1"/>
                </a:solidFill>
              </a:rPr>
              <a:t>assistant</a:t>
            </a:r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2052" name="Imagen 7">
            <a:extLst>
              <a:ext uri="{FF2B5EF4-FFF2-40B4-BE49-F238E27FC236}">
                <a16:creationId xmlns:a16="http://schemas.microsoft.com/office/drawing/2014/main" id="{AEB20491-8C40-A4C6-5B0B-DB76A6F9D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129" y="3056437"/>
            <a:ext cx="2377288" cy="1581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Imagen 8">
            <a:extLst>
              <a:ext uri="{FF2B5EF4-FFF2-40B4-BE49-F238E27FC236}">
                <a16:creationId xmlns:a16="http://schemas.microsoft.com/office/drawing/2014/main" id="{4ECD897F-BB0D-CFA2-E870-34AFFDC2C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912" y="3314467"/>
            <a:ext cx="1061131" cy="1061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9">
            <a:extLst>
              <a:ext uri="{FF2B5EF4-FFF2-40B4-BE49-F238E27FC236}">
                <a16:creationId xmlns:a16="http://schemas.microsoft.com/office/drawing/2014/main" id="{20A09312-1A0C-842D-70F3-594040A45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4900" y="1681315"/>
            <a:ext cx="1145714" cy="1145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Imagen 10">
            <a:extLst>
              <a:ext uri="{FF2B5EF4-FFF2-40B4-BE49-F238E27FC236}">
                <a16:creationId xmlns:a16="http://schemas.microsoft.com/office/drawing/2014/main" id="{08C2EA71-0417-CEF5-FDC8-110CF0CF2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43" r="13203"/>
          <a:stretch>
            <a:fillRect/>
          </a:stretch>
        </p:blipFill>
        <p:spPr bwMode="auto">
          <a:xfrm>
            <a:off x="7698023" y="3349424"/>
            <a:ext cx="984238" cy="945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Imagen 11">
            <a:extLst>
              <a:ext uri="{FF2B5EF4-FFF2-40B4-BE49-F238E27FC236}">
                <a16:creationId xmlns:a16="http://schemas.microsoft.com/office/drawing/2014/main" id="{DA247C39-42A3-B548-87C8-F60D2657F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5149" y="4718803"/>
            <a:ext cx="769986" cy="1097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Imagen 12">
            <a:extLst>
              <a:ext uri="{FF2B5EF4-FFF2-40B4-BE49-F238E27FC236}">
                <a16:creationId xmlns:a16="http://schemas.microsoft.com/office/drawing/2014/main" id="{CB39BE68-F21D-C8D5-2CBD-3D3033A91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8653" y="4958171"/>
            <a:ext cx="1582085" cy="878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lecha: arriba y abajo 3">
            <a:extLst>
              <a:ext uri="{FF2B5EF4-FFF2-40B4-BE49-F238E27FC236}">
                <a16:creationId xmlns:a16="http://schemas.microsoft.com/office/drawing/2014/main" id="{DBE7F088-B1CA-5563-BA31-649931C532EA}"/>
              </a:ext>
            </a:extLst>
          </p:cNvPr>
          <p:cNvSpPr/>
          <p:nvPr/>
        </p:nvSpPr>
        <p:spPr>
          <a:xfrm>
            <a:off x="6221507" y="4651522"/>
            <a:ext cx="88428" cy="293540"/>
          </a:xfrm>
          <a:prstGeom prst="upDownArrow">
            <a:avLst>
              <a:gd name="adj1" fmla="val 18000"/>
              <a:gd name="adj2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 dirty="0"/>
          </a:p>
        </p:txBody>
      </p:sp>
      <p:sp>
        <p:nvSpPr>
          <p:cNvPr id="5" name="Flecha: arriba y abajo 4">
            <a:extLst>
              <a:ext uri="{FF2B5EF4-FFF2-40B4-BE49-F238E27FC236}">
                <a16:creationId xmlns:a16="http://schemas.microsoft.com/office/drawing/2014/main" id="{333B098C-326D-EB1A-A32D-5EB2087CDD7B}"/>
              </a:ext>
            </a:extLst>
          </p:cNvPr>
          <p:cNvSpPr/>
          <p:nvPr/>
        </p:nvSpPr>
        <p:spPr>
          <a:xfrm>
            <a:off x="8145928" y="4306028"/>
            <a:ext cx="88428" cy="397736"/>
          </a:xfrm>
          <a:prstGeom prst="upDownArrow">
            <a:avLst>
              <a:gd name="adj1" fmla="val 18000"/>
              <a:gd name="adj2" fmla="val 50000"/>
            </a:avLst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/>
          </a:p>
        </p:txBody>
      </p:sp>
      <p:sp>
        <p:nvSpPr>
          <p:cNvPr id="6" name="Flecha: arriba y abajo 5">
            <a:extLst>
              <a:ext uri="{FF2B5EF4-FFF2-40B4-BE49-F238E27FC236}">
                <a16:creationId xmlns:a16="http://schemas.microsoft.com/office/drawing/2014/main" id="{852DA8F8-9076-3C22-D250-F87CBD5D0416}"/>
              </a:ext>
            </a:extLst>
          </p:cNvPr>
          <p:cNvSpPr/>
          <p:nvPr/>
        </p:nvSpPr>
        <p:spPr>
          <a:xfrm rot="16200000">
            <a:off x="7526573" y="3709606"/>
            <a:ext cx="88428" cy="225425"/>
          </a:xfrm>
          <a:prstGeom prst="upDownArrow">
            <a:avLst>
              <a:gd name="adj1" fmla="val 18000"/>
              <a:gd name="adj2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/>
          </a:p>
        </p:txBody>
      </p:sp>
      <p:sp>
        <p:nvSpPr>
          <p:cNvPr id="7" name="Flecha: arriba y abajo 6">
            <a:extLst>
              <a:ext uri="{FF2B5EF4-FFF2-40B4-BE49-F238E27FC236}">
                <a16:creationId xmlns:a16="http://schemas.microsoft.com/office/drawing/2014/main" id="{BFD1B0FF-6E7B-14CC-DBC0-31A7535A1473}"/>
              </a:ext>
            </a:extLst>
          </p:cNvPr>
          <p:cNvSpPr/>
          <p:nvPr/>
        </p:nvSpPr>
        <p:spPr>
          <a:xfrm rot="16200000">
            <a:off x="4865927" y="3699727"/>
            <a:ext cx="88428" cy="292102"/>
          </a:xfrm>
          <a:prstGeom prst="upDownArrow">
            <a:avLst>
              <a:gd name="adj1" fmla="val 18000"/>
              <a:gd name="adj2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/>
          </a:p>
        </p:txBody>
      </p:sp>
      <p:sp>
        <p:nvSpPr>
          <p:cNvPr id="8" name="Flecha: arriba y abajo 7">
            <a:extLst>
              <a:ext uri="{FF2B5EF4-FFF2-40B4-BE49-F238E27FC236}">
                <a16:creationId xmlns:a16="http://schemas.microsoft.com/office/drawing/2014/main" id="{C4A22141-9FAB-70DB-D268-FC79D9515DFF}"/>
              </a:ext>
            </a:extLst>
          </p:cNvPr>
          <p:cNvSpPr/>
          <p:nvPr/>
        </p:nvSpPr>
        <p:spPr>
          <a:xfrm>
            <a:off x="4173263" y="2840363"/>
            <a:ext cx="88428" cy="460050"/>
          </a:xfrm>
          <a:prstGeom prst="upDownArrow">
            <a:avLst>
              <a:gd name="adj1" fmla="val 18000"/>
              <a:gd name="adj2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 dirty="0"/>
          </a:p>
        </p:txBody>
      </p:sp>
      <p:pic>
        <p:nvPicPr>
          <p:cNvPr id="2050" name="Imagen 6">
            <a:extLst>
              <a:ext uri="{FF2B5EF4-FFF2-40B4-BE49-F238E27FC236}">
                <a16:creationId xmlns:a16="http://schemas.microsoft.com/office/drawing/2014/main" id="{6F6443DA-25B9-FD01-27C4-DD905B629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1022" y="1859611"/>
            <a:ext cx="1578241" cy="7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5142F9CF-0BB9-24CF-B395-E5BD20D59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60" t="15764" r="22459" b="11714"/>
          <a:stretch>
            <a:fillRect/>
          </a:stretch>
        </p:blipFill>
        <p:spPr bwMode="auto">
          <a:xfrm>
            <a:off x="5764213" y="1690840"/>
            <a:ext cx="987120" cy="1022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lecha: arriba y abajo 8">
            <a:extLst>
              <a:ext uri="{FF2B5EF4-FFF2-40B4-BE49-F238E27FC236}">
                <a16:creationId xmlns:a16="http://schemas.microsoft.com/office/drawing/2014/main" id="{7EA9BEC9-56EE-2915-32F7-BEF2DBAA51B5}"/>
              </a:ext>
            </a:extLst>
          </p:cNvPr>
          <p:cNvSpPr/>
          <p:nvPr/>
        </p:nvSpPr>
        <p:spPr>
          <a:xfrm>
            <a:off x="6213559" y="2723049"/>
            <a:ext cx="88428" cy="320279"/>
          </a:xfrm>
          <a:prstGeom prst="upDownArrow">
            <a:avLst>
              <a:gd name="adj1" fmla="val 18000"/>
              <a:gd name="adj2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/>
          </a:p>
        </p:txBody>
      </p:sp>
      <p:sp>
        <p:nvSpPr>
          <p:cNvPr id="10" name="Flecha: arriba y abajo 9">
            <a:extLst>
              <a:ext uri="{FF2B5EF4-FFF2-40B4-BE49-F238E27FC236}">
                <a16:creationId xmlns:a16="http://schemas.microsoft.com/office/drawing/2014/main" id="{1CF694D8-530C-F261-83ED-FB6A77855BF2}"/>
              </a:ext>
            </a:extLst>
          </p:cNvPr>
          <p:cNvSpPr/>
          <p:nvPr/>
        </p:nvSpPr>
        <p:spPr>
          <a:xfrm rot="2700000">
            <a:off x="7150683" y="2578210"/>
            <a:ext cx="80975" cy="552093"/>
          </a:xfrm>
          <a:prstGeom prst="upDownArrow">
            <a:avLst>
              <a:gd name="adj1" fmla="val 18000"/>
              <a:gd name="adj2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/>
          </a:p>
        </p:txBody>
      </p:sp>
      <p:pic>
        <p:nvPicPr>
          <p:cNvPr id="2063" name="Picture 15">
            <a:extLst>
              <a:ext uri="{FF2B5EF4-FFF2-40B4-BE49-F238E27FC236}">
                <a16:creationId xmlns:a16="http://schemas.microsoft.com/office/drawing/2014/main" id="{E39F664F-839B-E7E9-8C02-9FAC20D09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58" b="12785"/>
          <a:stretch>
            <a:fillRect/>
          </a:stretch>
        </p:blipFill>
        <p:spPr bwMode="auto">
          <a:xfrm>
            <a:off x="3806577" y="4978134"/>
            <a:ext cx="821800" cy="838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8">
            <a:extLst>
              <a:ext uri="{FF2B5EF4-FFF2-40B4-BE49-F238E27FC236}">
                <a16:creationId xmlns:a16="http://schemas.microsoft.com/office/drawing/2014/main" id="{6524D8F5-8A1B-0FAF-3D0A-16DF34F3C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7" name="Flecha: arriba y abajo 16">
            <a:extLst>
              <a:ext uri="{FF2B5EF4-FFF2-40B4-BE49-F238E27FC236}">
                <a16:creationId xmlns:a16="http://schemas.microsoft.com/office/drawing/2014/main" id="{A75D5238-2EDA-5E11-8C9F-CC937BA1E8C4}"/>
              </a:ext>
            </a:extLst>
          </p:cNvPr>
          <p:cNvSpPr/>
          <p:nvPr/>
        </p:nvSpPr>
        <p:spPr>
          <a:xfrm rot="2700000">
            <a:off x="4948591" y="4503007"/>
            <a:ext cx="80975" cy="994331"/>
          </a:xfrm>
          <a:prstGeom prst="upDownArrow">
            <a:avLst>
              <a:gd name="adj1" fmla="val 18000"/>
              <a:gd name="adj2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3798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5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25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5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25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25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250"/>
                                        <p:tgtEl>
                                          <p:spTgt spid="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1F6C5-6690-2398-AC22-11568D4ED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9ED8CC-B37E-DDF1-FBFE-E588301A9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6799" y="246464"/>
            <a:ext cx="8791575" cy="834256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ÍNDICE: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B9B4A5-129D-D53C-D073-2E7E892C4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1080720"/>
            <a:ext cx="9924149" cy="5637714"/>
          </a:xfrm>
        </p:spPr>
        <p:txBody>
          <a:bodyPr>
            <a:noAutofit/>
          </a:bodyPr>
          <a:lstStyle/>
          <a:p>
            <a:r>
              <a:rPr lang="es-ES" sz="3200" dirty="0">
                <a:solidFill>
                  <a:schemeClr val="bg1"/>
                </a:solidFill>
              </a:rPr>
              <a:t>1. Introducción.</a:t>
            </a:r>
          </a:p>
          <a:p>
            <a:r>
              <a:rPr lang="es-ES" sz="3200" dirty="0">
                <a:solidFill>
                  <a:schemeClr val="bg1"/>
                </a:solidFill>
              </a:rPr>
              <a:t>2. Creación y configuración de LA maqueta.</a:t>
            </a:r>
          </a:p>
          <a:p>
            <a:r>
              <a:rPr lang="es-ES" sz="3200" dirty="0">
                <a:solidFill>
                  <a:schemeClr val="bg1"/>
                </a:solidFill>
              </a:rPr>
              <a:t>3. Resultados.</a:t>
            </a:r>
          </a:p>
          <a:p>
            <a:r>
              <a:rPr lang="es-ES" sz="3200" dirty="0">
                <a:solidFill>
                  <a:schemeClr val="bg1"/>
                </a:solidFill>
              </a:rPr>
              <a:t>4. Presupuesto.</a:t>
            </a:r>
          </a:p>
          <a:p>
            <a:r>
              <a:rPr lang="es-ES" sz="3200" dirty="0">
                <a:solidFill>
                  <a:schemeClr val="bg1"/>
                </a:solidFill>
              </a:rPr>
              <a:t>5. Conclusiones.</a:t>
            </a:r>
          </a:p>
          <a:p>
            <a:r>
              <a:rPr lang="es-ES" sz="3200" dirty="0">
                <a:solidFill>
                  <a:schemeClr val="bg1"/>
                </a:solidFill>
              </a:rPr>
              <a:t>6. Planos y esquemas.</a:t>
            </a:r>
          </a:p>
          <a:p>
            <a:r>
              <a:rPr lang="es-ES" sz="3200" dirty="0">
                <a:solidFill>
                  <a:schemeClr val="bg1"/>
                </a:solidFill>
              </a:rPr>
              <a:t>7. Explicación del funcionamiento de la maqueta.</a:t>
            </a:r>
          </a:p>
        </p:txBody>
      </p:sp>
    </p:spTree>
    <p:extLst>
      <p:ext uri="{BB962C8B-B14F-4D97-AF65-F5344CB8AC3E}">
        <p14:creationId xmlns:p14="http://schemas.microsoft.com/office/powerpoint/2010/main" val="40150227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75BEB-0F30-DD99-1974-B7BED6853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4F11D-C4A0-AE15-6809-290C7A031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794927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1. Introducción.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9BC0A2-E772-A7FD-7ACB-7D83F2519B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1917290"/>
            <a:ext cx="7936170" cy="4473678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chemeClr val="bg1"/>
                </a:solidFill>
              </a:rPr>
              <a:t>1.1. Justificación.</a:t>
            </a:r>
          </a:p>
          <a:p>
            <a:r>
              <a:rPr lang="es-ES" sz="3200" dirty="0">
                <a:solidFill>
                  <a:schemeClr val="bg1"/>
                </a:solidFill>
              </a:rPr>
              <a:t>1.2. ¿Qué es el </a:t>
            </a:r>
            <a:r>
              <a:rPr lang="es-ES" sz="3200" dirty="0" err="1">
                <a:solidFill>
                  <a:schemeClr val="bg1"/>
                </a:solidFill>
              </a:rPr>
              <a:t>Iot</a:t>
            </a:r>
            <a:r>
              <a:rPr lang="es-ES" sz="3200" dirty="0">
                <a:solidFill>
                  <a:schemeClr val="bg1"/>
                </a:solidFill>
              </a:rPr>
              <a:t>?</a:t>
            </a:r>
          </a:p>
          <a:p>
            <a:r>
              <a:rPr lang="es-ES" sz="3200" dirty="0">
                <a:solidFill>
                  <a:schemeClr val="bg1"/>
                </a:solidFill>
              </a:rPr>
              <a:t>1.3. ¿Qué ofrece Home Assistant?</a:t>
            </a:r>
          </a:p>
          <a:p>
            <a:r>
              <a:rPr lang="es-ES" sz="3200" dirty="0">
                <a:solidFill>
                  <a:schemeClr val="bg1"/>
                </a:solidFill>
              </a:rPr>
              <a:t>1.4. Objetivos.</a:t>
            </a:r>
          </a:p>
        </p:txBody>
      </p:sp>
    </p:spTree>
    <p:extLst>
      <p:ext uri="{BB962C8B-B14F-4D97-AF65-F5344CB8AC3E}">
        <p14:creationId xmlns:p14="http://schemas.microsoft.com/office/powerpoint/2010/main" val="1182748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32D04-028A-2915-FA32-351782EAC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570E2-B8B2-C0FF-A32E-920F167D5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6760" y="227626"/>
            <a:ext cx="8791575" cy="824424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1.1 Justificación.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77D65A-98BE-8DDA-90FE-726521290E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1052050"/>
            <a:ext cx="9578157" cy="1556396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Me resulta muy útil, innovador e interesante centralizar todos los diferentes servicios domóticos, </a:t>
            </a:r>
            <a:r>
              <a:rPr lang="es-ES" dirty="0" err="1">
                <a:solidFill>
                  <a:schemeClr val="bg1"/>
                </a:solidFill>
              </a:rPr>
              <a:t>inmóticas</a:t>
            </a:r>
            <a:r>
              <a:rPr lang="es-ES" dirty="0">
                <a:solidFill>
                  <a:schemeClr val="bg1"/>
                </a:solidFill>
              </a:rPr>
              <a:t>, automatizaciones, multimedia y seguridad de diferentes fabricantes mediante una única plataforma como Home Assistant.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882A9AE-0B56-FAD4-A779-DEC10F90C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554" y="2608446"/>
            <a:ext cx="6211985" cy="4143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285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A4F03-E9FE-CBB2-2BB8-F12CCD9FC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6F1489-C8F0-76FF-BD09-4CD173503A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6760" y="237459"/>
            <a:ext cx="8791575" cy="804760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1.2. ¿Qué es el </a:t>
            </a:r>
            <a:r>
              <a:rPr lang="es-ES" dirty="0" err="1">
                <a:solidFill>
                  <a:schemeClr val="bg1"/>
                </a:solidFill>
              </a:rPr>
              <a:t>Iot</a:t>
            </a:r>
            <a:r>
              <a:rPr lang="es-ES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2F56D2-3553-DD31-EC5F-33678CF601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1042220"/>
            <a:ext cx="9637150" cy="127746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El internet de </a:t>
            </a:r>
            <a:r>
              <a:rPr lang="es-ES">
                <a:solidFill>
                  <a:schemeClr val="bg1"/>
                </a:solidFill>
              </a:rPr>
              <a:t>las cosas </a:t>
            </a:r>
            <a:r>
              <a:rPr lang="es-ES" dirty="0">
                <a:solidFill>
                  <a:schemeClr val="bg1"/>
                </a:solidFill>
              </a:rPr>
              <a:t>(Internet </a:t>
            </a:r>
            <a:r>
              <a:rPr lang="es-ES" dirty="0" err="1">
                <a:solidFill>
                  <a:schemeClr val="bg1"/>
                </a:solidFill>
              </a:rPr>
              <a:t>of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Things</a:t>
            </a:r>
            <a:r>
              <a:rPr lang="es-ES" dirty="0">
                <a:solidFill>
                  <a:schemeClr val="bg1"/>
                </a:solidFill>
              </a:rPr>
              <a:t> por sus siglas en inglés) es una red de dispositivos, sistemas y elementos físicos con la capacidad de conectase a internet, intercomunicarse y compartir información entre sí.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3649D5A-AD8F-7708-B223-566DDC41E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554" y="2283593"/>
            <a:ext cx="7940891" cy="433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5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9E7E8-48D2-950B-3B01-F58D6F707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14D39B-AB1A-8A42-F71C-31F03F43E3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6927" y="237461"/>
            <a:ext cx="9627319" cy="804760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1.3. ¿Qué ofrece Home Assistant?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D2148A-D661-32E9-F128-4878902036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1042222"/>
            <a:ext cx="4219576" cy="5555224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En la actualidad Home Assistant ofrece una plataforma completa de código abierto y personalizable gracias a que su código base está creado en Python y su soporte para diversas plataformas permite realizar las automatizaciones de cualquier tipo de ámbito o necesidad. la reciente adopción de </a:t>
            </a:r>
            <a:r>
              <a:rPr lang="es-ES" dirty="0" err="1">
                <a:solidFill>
                  <a:schemeClr val="bg1"/>
                </a:solidFill>
              </a:rPr>
              <a:t>Matter</a:t>
            </a:r>
            <a:r>
              <a:rPr lang="es-ES" dirty="0">
                <a:solidFill>
                  <a:schemeClr val="bg1"/>
                </a:solidFill>
              </a:rPr>
              <a:t>  lo posiciona como una herramienta de vanguardia en el ámbito de la domótica, </a:t>
            </a:r>
            <a:r>
              <a:rPr lang="es-ES" dirty="0" err="1">
                <a:solidFill>
                  <a:schemeClr val="bg1"/>
                </a:solidFill>
              </a:rPr>
              <a:t>inmótica</a:t>
            </a:r>
            <a:r>
              <a:rPr lang="es-ES" dirty="0">
                <a:solidFill>
                  <a:schemeClr val="bg1"/>
                </a:solidFill>
              </a:rPr>
              <a:t>, automatización, multimedia y seguridad.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6663786-81C5-41C2-C2A8-4EEB02AB1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5497" y="1694688"/>
            <a:ext cx="5667054" cy="425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382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56E4F-0F1E-D5FB-9216-347065B41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E0B776-C334-D35B-C7BC-3855A103AF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6760" y="237460"/>
            <a:ext cx="8791575" cy="765431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1.4. Objetivos.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6F9893-433B-F206-ADB0-7406DA198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1002892"/>
            <a:ext cx="9106208" cy="119166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Realizar el control, gestión y acceso telemático-local de la iluminación de un dormitorio con cuarto de baño y calefacción mediante Home Assistant vía APP o WEB.</a:t>
            </a:r>
          </a:p>
        </p:txBody>
      </p:sp>
      <p:pic>
        <p:nvPicPr>
          <p:cNvPr id="4" name="Imagen 7">
            <a:extLst>
              <a:ext uri="{FF2B5EF4-FFF2-40B4-BE49-F238E27FC236}">
                <a16:creationId xmlns:a16="http://schemas.microsoft.com/office/drawing/2014/main" id="{2829BC72-D8AC-0F45-EE20-D696F1ED0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8783" y="3872453"/>
            <a:ext cx="2377288" cy="1581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8">
            <a:extLst>
              <a:ext uri="{FF2B5EF4-FFF2-40B4-BE49-F238E27FC236}">
                <a16:creationId xmlns:a16="http://schemas.microsoft.com/office/drawing/2014/main" id="{399C507B-CC7B-F396-3881-465C1C6E1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566" y="4130483"/>
            <a:ext cx="1061131" cy="1061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9">
            <a:extLst>
              <a:ext uri="{FF2B5EF4-FFF2-40B4-BE49-F238E27FC236}">
                <a16:creationId xmlns:a16="http://schemas.microsoft.com/office/drawing/2014/main" id="{01CC30F0-2632-5D1D-40F2-27C11A897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4554" y="2497331"/>
            <a:ext cx="1145714" cy="1145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10">
            <a:extLst>
              <a:ext uri="{FF2B5EF4-FFF2-40B4-BE49-F238E27FC236}">
                <a16:creationId xmlns:a16="http://schemas.microsoft.com/office/drawing/2014/main" id="{67D814C1-3AC0-B125-7D28-A1A9F9F8F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43" r="13203"/>
          <a:stretch>
            <a:fillRect/>
          </a:stretch>
        </p:blipFill>
        <p:spPr bwMode="auto">
          <a:xfrm>
            <a:off x="6317677" y="4165440"/>
            <a:ext cx="984238" cy="945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11">
            <a:extLst>
              <a:ext uri="{FF2B5EF4-FFF2-40B4-BE49-F238E27FC236}">
                <a16:creationId xmlns:a16="http://schemas.microsoft.com/office/drawing/2014/main" id="{E471A4C8-132C-7129-E05E-EEF1406BC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4803" y="5534819"/>
            <a:ext cx="769986" cy="1097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12">
            <a:extLst>
              <a:ext uri="{FF2B5EF4-FFF2-40B4-BE49-F238E27FC236}">
                <a16:creationId xmlns:a16="http://schemas.microsoft.com/office/drawing/2014/main" id="{DF6F3638-5109-382E-BE13-0C56EBE44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8307" y="5774187"/>
            <a:ext cx="1582085" cy="878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lecha: arriba y abajo 9">
            <a:extLst>
              <a:ext uri="{FF2B5EF4-FFF2-40B4-BE49-F238E27FC236}">
                <a16:creationId xmlns:a16="http://schemas.microsoft.com/office/drawing/2014/main" id="{0E9ED5B4-B1E8-CAC0-B6A7-A193D930D3EC}"/>
              </a:ext>
            </a:extLst>
          </p:cNvPr>
          <p:cNvSpPr/>
          <p:nvPr/>
        </p:nvSpPr>
        <p:spPr>
          <a:xfrm>
            <a:off x="4841161" y="5467538"/>
            <a:ext cx="88428" cy="293540"/>
          </a:xfrm>
          <a:prstGeom prst="upDownArrow">
            <a:avLst>
              <a:gd name="adj1" fmla="val 18000"/>
              <a:gd name="adj2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 dirty="0"/>
          </a:p>
        </p:txBody>
      </p:sp>
      <p:sp>
        <p:nvSpPr>
          <p:cNvPr id="11" name="Flecha: arriba y abajo 10">
            <a:extLst>
              <a:ext uri="{FF2B5EF4-FFF2-40B4-BE49-F238E27FC236}">
                <a16:creationId xmlns:a16="http://schemas.microsoft.com/office/drawing/2014/main" id="{A86153DD-55A3-CA28-A2C8-6F57E68E9B9A}"/>
              </a:ext>
            </a:extLst>
          </p:cNvPr>
          <p:cNvSpPr/>
          <p:nvPr/>
        </p:nvSpPr>
        <p:spPr>
          <a:xfrm>
            <a:off x="6765582" y="5122044"/>
            <a:ext cx="88428" cy="397736"/>
          </a:xfrm>
          <a:prstGeom prst="upDownArrow">
            <a:avLst>
              <a:gd name="adj1" fmla="val 18000"/>
              <a:gd name="adj2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/>
          </a:p>
        </p:txBody>
      </p:sp>
      <p:sp>
        <p:nvSpPr>
          <p:cNvPr id="12" name="Flecha: arriba y abajo 11">
            <a:extLst>
              <a:ext uri="{FF2B5EF4-FFF2-40B4-BE49-F238E27FC236}">
                <a16:creationId xmlns:a16="http://schemas.microsoft.com/office/drawing/2014/main" id="{4FF2F5E4-381C-803B-5065-5285D20A20F8}"/>
              </a:ext>
            </a:extLst>
          </p:cNvPr>
          <p:cNvSpPr/>
          <p:nvPr/>
        </p:nvSpPr>
        <p:spPr>
          <a:xfrm rot="16200000">
            <a:off x="6146227" y="4525622"/>
            <a:ext cx="88428" cy="225425"/>
          </a:xfrm>
          <a:prstGeom prst="upDownArrow">
            <a:avLst>
              <a:gd name="adj1" fmla="val 18000"/>
              <a:gd name="adj2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/>
          </a:p>
        </p:txBody>
      </p:sp>
      <p:sp>
        <p:nvSpPr>
          <p:cNvPr id="13" name="Flecha: arriba y abajo 12">
            <a:extLst>
              <a:ext uri="{FF2B5EF4-FFF2-40B4-BE49-F238E27FC236}">
                <a16:creationId xmlns:a16="http://schemas.microsoft.com/office/drawing/2014/main" id="{FC4DAD8E-0009-7052-21D7-BCD0FE1AC0E6}"/>
              </a:ext>
            </a:extLst>
          </p:cNvPr>
          <p:cNvSpPr/>
          <p:nvPr/>
        </p:nvSpPr>
        <p:spPr>
          <a:xfrm rot="16200000">
            <a:off x="3485581" y="4515743"/>
            <a:ext cx="88428" cy="292102"/>
          </a:xfrm>
          <a:prstGeom prst="upDownArrow">
            <a:avLst>
              <a:gd name="adj1" fmla="val 18000"/>
              <a:gd name="adj2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/>
          </a:p>
        </p:txBody>
      </p:sp>
      <p:sp>
        <p:nvSpPr>
          <p:cNvPr id="14" name="Flecha: arriba y abajo 13">
            <a:extLst>
              <a:ext uri="{FF2B5EF4-FFF2-40B4-BE49-F238E27FC236}">
                <a16:creationId xmlns:a16="http://schemas.microsoft.com/office/drawing/2014/main" id="{DD62EA1B-C78C-4790-BF9A-DEEC03F39F83}"/>
              </a:ext>
            </a:extLst>
          </p:cNvPr>
          <p:cNvSpPr/>
          <p:nvPr/>
        </p:nvSpPr>
        <p:spPr>
          <a:xfrm>
            <a:off x="2792917" y="3656379"/>
            <a:ext cx="88428" cy="460050"/>
          </a:xfrm>
          <a:prstGeom prst="upDownArrow">
            <a:avLst>
              <a:gd name="adj1" fmla="val 18000"/>
              <a:gd name="adj2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/>
          </a:p>
        </p:txBody>
      </p:sp>
      <p:pic>
        <p:nvPicPr>
          <p:cNvPr id="15" name="Imagen 6">
            <a:extLst>
              <a:ext uri="{FF2B5EF4-FFF2-40B4-BE49-F238E27FC236}">
                <a16:creationId xmlns:a16="http://schemas.microsoft.com/office/drawing/2014/main" id="{690BE2B0-1158-4220-819A-86B4FB354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676" y="2675627"/>
            <a:ext cx="1578241" cy="7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>
            <a:extLst>
              <a:ext uri="{FF2B5EF4-FFF2-40B4-BE49-F238E27FC236}">
                <a16:creationId xmlns:a16="http://schemas.microsoft.com/office/drawing/2014/main" id="{519A451B-FB82-A989-4B58-E651F40A0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60" t="15764" r="22459" b="11714"/>
          <a:stretch>
            <a:fillRect/>
          </a:stretch>
        </p:blipFill>
        <p:spPr bwMode="auto">
          <a:xfrm>
            <a:off x="4383867" y="2506856"/>
            <a:ext cx="987120" cy="1022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Flecha: arriba y abajo 16">
            <a:extLst>
              <a:ext uri="{FF2B5EF4-FFF2-40B4-BE49-F238E27FC236}">
                <a16:creationId xmlns:a16="http://schemas.microsoft.com/office/drawing/2014/main" id="{578A7D77-057F-DC5D-C444-1A0A7FE7F76B}"/>
              </a:ext>
            </a:extLst>
          </p:cNvPr>
          <p:cNvSpPr/>
          <p:nvPr/>
        </p:nvSpPr>
        <p:spPr>
          <a:xfrm>
            <a:off x="4833213" y="3539065"/>
            <a:ext cx="88428" cy="320279"/>
          </a:xfrm>
          <a:prstGeom prst="upDownArrow">
            <a:avLst>
              <a:gd name="adj1" fmla="val 18000"/>
              <a:gd name="adj2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/>
          </a:p>
        </p:txBody>
      </p:sp>
      <p:sp>
        <p:nvSpPr>
          <p:cNvPr id="18" name="Flecha: arriba y abajo 17">
            <a:extLst>
              <a:ext uri="{FF2B5EF4-FFF2-40B4-BE49-F238E27FC236}">
                <a16:creationId xmlns:a16="http://schemas.microsoft.com/office/drawing/2014/main" id="{E36B849C-AA6F-0A8B-0AF9-B49EAA392D94}"/>
              </a:ext>
            </a:extLst>
          </p:cNvPr>
          <p:cNvSpPr/>
          <p:nvPr/>
        </p:nvSpPr>
        <p:spPr>
          <a:xfrm rot="2700000">
            <a:off x="5770337" y="3394226"/>
            <a:ext cx="80975" cy="552093"/>
          </a:xfrm>
          <a:prstGeom prst="upDownArrow">
            <a:avLst>
              <a:gd name="adj1" fmla="val 18000"/>
              <a:gd name="adj2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/>
          </a:p>
        </p:txBody>
      </p:sp>
      <p:pic>
        <p:nvPicPr>
          <p:cNvPr id="19" name="Picture 15">
            <a:extLst>
              <a:ext uri="{FF2B5EF4-FFF2-40B4-BE49-F238E27FC236}">
                <a16:creationId xmlns:a16="http://schemas.microsoft.com/office/drawing/2014/main" id="{A1B34010-88FF-709C-629C-40045DE9F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58" b="12785"/>
          <a:stretch>
            <a:fillRect/>
          </a:stretch>
        </p:blipFill>
        <p:spPr bwMode="auto">
          <a:xfrm>
            <a:off x="2426231" y="5794150"/>
            <a:ext cx="821800" cy="838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Flecha: arriba y abajo 19">
            <a:extLst>
              <a:ext uri="{FF2B5EF4-FFF2-40B4-BE49-F238E27FC236}">
                <a16:creationId xmlns:a16="http://schemas.microsoft.com/office/drawing/2014/main" id="{3AA13095-6021-4D56-5E3C-3722BBCFB2C2}"/>
              </a:ext>
            </a:extLst>
          </p:cNvPr>
          <p:cNvSpPr/>
          <p:nvPr/>
        </p:nvSpPr>
        <p:spPr>
          <a:xfrm rot="2700000">
            <a:off x="3568245" y="5319023"/>
            <a:ext cx="80975" cy="994331"/>
          </a:xfrm>
          <a:prstGeom prst="upDownArrow">
            <a:avLst>
              <a:gd name="adj1" fmla="val 18000"/>
              <a:gd name="adj2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423C9908-63B1-B4F3-4554-1B66EA9D1BC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89489" y="4239313"/>
            <a:ext cx="2400783" cy="709614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DA4CC127-C0E9-33E4-A72E-5F7C875192C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22337" b="24287"/>
          <a:stretch>
            <a:fillRect/>
          </a:stretch>
        </p:blipFill>
        <p:spPr>
          <a:xfrm>
            <a:off x="8273622" y="5428493"/>
            <a:ext cx="2233332" cy="1192047"/>
          </a:xfrm>
          <a:prstGeom prst="rect">
            <a:avLst/>
          </a:prstGeom>
        </p:spPr>
      </p:pic>
      <p:sp>
        <p:nvSpPr>
          <p:cNvPr id="28" name="Flecha: arriba y abajo 27">
            <a:extLst>
              <a:ext uri="{FF2B5EF4-FFF2-40B4-BE49-F238E27FC236}">
                <a16:creationId xmlns:a16="http://schemas.microsoft.com/office/drawing/2014/main" id="{267D7BAE-B34D-469D-E0A5-1C2EDAAE06D7}"/>
              </a:ext>
            </a:extLst>
          </p:cNvPr>
          <p:cNvSpPr/>
          <p:nvPr/>
        </p:nvSpPr>
        <p:spPr>
          <a:xfrm rot="13500000">
            <a:off x="7640427" y="4582314"/>
            <a:ext cx="88428" cy="1344378"/>
          </a:xfrm>
          <a:prstGeom prst="upDownArrow">
            <a:avLst>
              <a:gd name="adj1" fmla="val 18000"/>
              <a:gd name="adj2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/>
          </a:p>
        </p:txBody>
      </p:sp>
      <p:sp>
        <p:nvSpPr>
          <p:cNvPr id="29" name="Flecha: arriba y abajo 28">
            <a:extLst>
              <a:ext uri="{FF2B5EF4-FFF2-40B4-BE49-F238E27FC236}">
                <a16:creationId xmlns:a16="http://schemas.microsoft.com/office/drawing/2014/main" id="{8033A9F9-B29B-9737-C1B8-DDB83E011E21}"/>
              </a:ext>
            </a:extLst>
          </p:cNvPr>
          <p:cNvSpPr/>
          <p:nvPr/>
        </p:nvSpPr>
        <p:spPr>
          <a:xfrm rot="16200000">
            <a:off x="7690601" y="5500640"/>
            <a:ext cx="88428" cy="1047751"/>
          </a:xfrm>
          <a:prstGeom prst="upDownArrow">
            <a:avLst>
              <a:gd name="adj1" fmla="val 18000"/>
              <a:gd name="adj2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CE4C8F9A-DC4F-D65A-B912-73BAC16533C3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29839" b="29332"/>
          <a:stretch>
            <a:fillRect/>
          </a:stretch>
        </p:blipFill>
        <p:spPr>
          <a:xfrm>
            <a:off x="8051644" y="2552155"/>
            <a:ext cx="2514267" cy="1026540"/>
          </a:xfrm>
          <a:prstGeom prst="rect">
            <a:avLst/>
          </a:prstGeom>
        </p:spPr>
      </p:pic>
      <p:sp>
        <p:nvSpPr>
          <p:cNvPr id="32" name="Flecha: arriba y abajo 31">
            <a:extLst>
              <a:ext uri="{FF2B5EF4-FFF2-40B4-BE49-F238E27FC236}">
                <a16:creationId xmlns:a16="http://schemas.microsoft.com/office/drawing/2014/main" id="{FD7DE8C5-644E-0228-CCDF-330BB81297E8}"/>
              </a:ext>
            </a:extLst>
          </p:cNvPr>
          <p:cNvSpPr/>
          <p:nvPr/>
        </p:nvSpPr>
        <p:spPr>
          <a:xfrm rot="16200000">
            <a:off x="7861776" y="2773704"/>
            <a:ext cx="88428" cy="599565"/>
          </a:xfrm>
          <a:prstGeom prst="upDownArrow">
            <a:avLst>
              <a:gd name="adj1" fmla="val 18000"/>
              <a:gd name="adj2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7615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0" grpId="0" animBg="1"/>
      <p:bldP spid="11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20" grpId="0" animBg="1"/>
      <p:bldP spid="28" grpId="0" animBg="1"/>
      <p:bldP spid="29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2CD5B-BBFF-B27D-3E2C-E99DD0612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4833D-63EC-4E64-1980-847F6040A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6760" y="227625"/>
            <a:ext cx="8358957" cy="1463521"/>
          </a:xfrm>
        </p:spPr>
        <p:txBody>
          <a:bodyPr>
            <a:normAutofit fontScale="90000"/>
          </a:bodyPr>
          <a:lstStyle/>
          <a:p>
            <a:r>
              <a:rPr lang="es-ES" dirty="0">
                <a:solidFill>
                  <a:schemeClr val="bg1"/>
                </a:solidFill>
              </a:rPr>
              <a:t>2. Creación y configuración de LA maqueta.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6D9A0A-902D-230F-133D-3A90DE6E8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1691145"/>
            <a:ext cx="5301124" cy="4870971"/>
          </a:xfrm>
        </p:spPr>
        <p:txBody>
          <a:bodyPr>
            <a:normAutofit lnSpcReduction="10000"/>
          </a:bodyPr>
          <a:lstStyle/>
          <a:p>
            <a:r>
              <a:rPr lang="es-ES" dirty="0">
                <a:solidFill>
                  <a:schemeClr val="bg1"/>
                </a:solidFill>
              </a:rPr>
              <a:t>Mediante una serie de programas informáticos crearemos los esquemas y planos para crear la maqueta además de realizar la instalación del sistema operativo de home </a:t>
            </a:r>
            <a:r>
              <a:rPr lang="es-ES" dirty="0" err="1">
                <a:solidFill>
                  <a:schemeClr val="bg1"/>
                </a:solidFill>
              </a:rPr>
              <a:t>assistant</a:t>
            </a:r>
            <a:r>
              <a:rPr lang="es-ES" dirty="0">
                <a:solidFill>
                  <a:schemeClr val="bg1"/>
                </a:solidFill>
              </a:rPr>
              <a:t> para el microordenador y todas las actualizaciones necesarias de software y firmware.</a:t>
            </a:r>
          </a:p>
          <a:p>
            <a:r>
              <a:rPr lang="es-ES" dirty="0">
                <a:solidFill>
                  <a:schemeClr val="bg1"/>
                </a:solidFill>
              </a:rPr>
              <a:t>Con cualquier navegador WEB podemos realizar las instalaciones de servicios en red, complementos e integraciones además de realizar las configuraciones, integraciones, programaciones.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1F9F120-8286-3F14-D2C8-1B3EA25F4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833" y="2879466"/>
            <a:ext cx="1544238" cy="154423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7F3E2E9-31F4-448B-8B8D-AE7D4431F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293" y="4272409"/>
            <a:ext cx="2289707" cy="22897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DAFD9E0-408A-4D2F-D57F-64FC5AFB7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406" y="2631946"/>
            <a:ext cx="2490221" cy="159410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DDEA15D-CB57-F94B-3512-95BAA28A30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8407" y="1523254"/>
            <a:ext cx="1524003" cy="152400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83B5AE6-74FA-C708-86F8-773F69E3D5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9186" y="1659259"/>
            <a:ext cx="1731268" cy="176974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3274AE3-E74A-8E43-7991-B13A4DE6BC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4106" y="1691146"/>
            <a:ext cx="1073983" cy="1073983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7635C12D-CD1B-F704-8AE4-F0CBF53EBE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5918" y="3737966"/>
            <a:ext cx="3048006" cy="304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827085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D9386-B1BA-C53D-5BC1-471B88153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047FC7-DDF5-406D-18B8-445A98885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6592" y="247292"/>
            <a:ext cx="8791575" cy="775262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3. Resultados.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91427E-4836-EBD6-A573-C2998FDE73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3" y="1022553"/>
            <a:ext cx="9755137" cy="3090132"/>
          </a:xfrm>
        </p:spPr>
        <p:txBody>
          <a:bodyPr>
            <a:normAutofit fontScale="85000" lnSpcReduction="10000"/>
          </a:bodyPr>
          <a:lstStyle/>
          <a:p>
            <a:r>
              <a:rPr lang="es-ES" dirty="0">
                <a:solidFill>
                  <a:schemeClr val="bg1"/>
                </a:solidFill>
              </a:rPr>
              <a:t>Podemos tener el control y acceso a las luces del dormitorio y del cuarto de baño mediante los pulsadores del dormitorio como por la aplicación móvil de Home Assistant o mediante navegador WEB además de controlar la calefacción del dormitorio mediante el termostato del </a:t>
            </a:r>
            <a:r>
              <a:rPr lang="es-ES" dirty="0" err="1">
                <a:solidFill>
                  <a:schemeClr val="bg1"/>
                </a:solidFill>
              </a:rPr>
              <a:t>dashboard</a:t>
            </a:r>
            <a:r>
              <a:rPr lang="es-ES" dirty="0">
                <a:solidFill>
                  <a:schemeClr val="bg1"/>
                </a:solidFill>
              </a:rPr>
              <a:t> de Home Assistant, como la visualización del tiempo meteorológico, del </a:t>
            </a:r>
            <a:r>
              <a:rPr lang="es-ES" dirty="0" err="1">
                <a:solidFill>
                  <a:schemeClr val="bg1"/>
                </a:solidFill>
              </a:rPr>
              <a:t>stream</a:t>
            </a:r>
            <a:r>
              <a:rPr lang="es-ES" dirty="0">
                <a:solidFill>
                  <a:schemeClr val="bg1"/>
                </a:solidFill>
              </a:rPr>
              <a:t> de la cámara del huerto del instituto, acceso a la radio online y al historial de los dispositivos añadidos a Home Assistant. Todo ello con la capacidad de acceder a todo lo relacionado a Home Assistant como todos los dispositivos y servicios en red desde cualquier dispositivo con navegador WEB y con acceso a la red LAN o desde cualquier sitio con acceso a internet y que el dispositivo tenga la capacidad de acceder al servicio de VPN que se ha creado.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104CEE4-D39C-4E08-DE22-6C64E45979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68" t="24582" r="19566" b="8253"/>
          <a:stretch/>
        </p:blipFill>
        <p:spPr bwMode="auto">
          <a:xfrm>
            <a:off x="5903738" y="4739746"/>
            <a:ext cx="1064507" cy="138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EED4714-BFF7-09DB-40CE-2747F2573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767" y="3592724"/>
            <a:ext cx="3360175" cy="33601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2C383C3-9E2F-AFE0-3780-9AF068BB8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5796" y="3520576"/>
            <a:ext cx="3864078" cy="309013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DF98681-FB90-747B-7A90-56E97A50BA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2292" y="4304281"/>
            <a:ext cx="3040393" cy="133333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FBA3377-287C-8E57-BC69-74D13A02C9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2315" y="4605412"/>
            <a:ext cx="1713685" cy="171368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49807E5-9AF4-BDDF-1580-A7E83EE3C2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2961" y="3883336"/>
            <a:ext cx="782897" cy="78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96600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EFF9D-A4D8-8A3C-ED4D-6EFF5E127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126FA-65FB-E06B-44F8-4FD8CD88F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6592" y="237458"/>
            <a:ext cx="8791575" cy="775263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4. Presupuesto.</a:t>
            </a:r>
          </a:p>
        </p:txBody>
      </p:sp>
      <p:pic>
        <p:nvPicPr>
          <p:cNvPr id="77" name="Imagen 76">
            <a:extLst>
              <a:ext uri="{FF2B5EF4-FFF2-40B4-BE49-F238E27FC236}">
                <a16:creationId xmlns:a16="http://schemas.microsoft.com/office/drawing/2014/main" id="{92C0CD1B-54E1-BFE2-1DC8-83820FB6C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278" y="3476381"/>
            <a:ext cx="1196779" cy="1196779"/>
          </a:xfrm>
          <a:prstGeom prst="rect">
            <a:avLst/>
          </a:prstGeom>
        </p:spPr>
      </p:pic>
      <p:pic>
        <p:nvPicPr>
          <p:cNvPr id="83" name="Imagen 82">
            <a:extLst>
              <a:ext uri="{FF2B5EF4-FFF2-40B4-BE49-F238E27FC236}">
                <a16:creationId xmlns:a16="http://schemas.microsoft.com/office/drawing/2014/main" id="{A718176D-7EE6-BBDB-CB82-E5D1AF5FE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939589" y="2857453"/>
            <a:ext cx="832355" cy="1379487"/>
          </a:xfrm>
          <a:prstGeom prst="rect">
            <a:avLst/>
          </a:prstGeom>
        </p:spPr>
      </p:pic>
      <p:pic>
        <p:nvPicPr>
          <p:cNvPr id="85" name="Imagen 84">
            <a:extLst>
              <a:ext uri="{FF2B5EF4-FFF2-40B4-BE49-F238E27FC236}">
                <a16:creationId xmlns:a16="http://schemas.microsoft.com/office/drawing/2014/main" id="{EB661E60-000F-09BE-2F35-EE1A490468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9099" y="1712448"/>
            <a:ext cx="1950724" cy="1950724"/>
          </a:xfrm>
          <a:prstGeom prst="rect">
            <a:avLst/>
          </a:prstGeom>
        </p:spPr>
      </p:pic>
      <p:pic>
        <p:nvPicPr>
          <p:cNvPr id="91" name="Imagen 90">
            <a:extLst>
              <a:ext uri="{FF2B5EF4-FFF2-40B4-BE49-F238E27FC236}">
                <a16:creationId xmlns:a16="http://schemas.microsoft.com/office/drawing/2014/main" id="{4FFC3163-5755-6B4B-F2EC-95361C5B7F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9412" y="2193162"/>
            <a:ext cx="1087003" cy="916680"/>
          </a:xfrm>
          <a:prstGeom prst="rect">
            <a:avLst/>
          </a:prstGeom>
        </p:spPr>
      </p:pic>
      <p:pic>
        <p:nvPicPr>
          <p:cNvPr id="93" name="Imagen 92">
            <a:extLst>
              <a:ext uri="{FF2B5EF4-FFF2-40B4-BE49-F238E27FC236}">
                <a16:creationId xmlns:a16="http://schemas.microsoft.com/office/drawing/2014/main" id="{B1D0B3A3-B44D-B570-834E-9023FB9B2C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2143" y="212457"/>
            <a:ext cx="1842383" cy="1842383"/>
          </a:xfrm>
          <a:prstGeom prst="rect">
            <a:avLst/>
          </a:prstGeom>
        </p:spPr>
      </p:pic>
      <p:pic>
        <p:nvPicPr>
          <p:cNvPr id="95" name="Imagen 94">
            <a:extLst>
              <a:ext uri="{FF2B5EF4-FFF2-40B4-BE49-F238E27FC236}">
                <a16:creationId xmlns:a16="http://schemas.microsoft.com/office/drawing/2014/main" id="{EE440B3C-84DF-49B2-584E-AF44D1CC17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6147" y="4241353"/>
            <a:ext cx="2289707" cy="2289707"/>
          </a:xfrm>
          <a:prstGeom prst="rect">
            <a:avLst/>
          </a:prstGeom>
        </p:spPr>
      </p:pic>
      <p:pic>
        <p:nvPicPr>
          <p:cNvPr id="99" name="Imagen 98">
            <a:extLst>
              <a:ext uri="{FF2B5EF4-FFF2-40B4-BE49-F238E27FC236}">
                <a16:creationId xmlns:a16="http://schemas.microsoft.com/office/drawing/2014/main" id="{AA71950A-13C7-0B8F-CE64-A3F720A703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6468" y="2110066"/>
            <a:ext cx="1465749" cy="1465749"/>
          </a:xfrm>
          <a:prstGeom prst="rect">
            <a:avLst/>
          </a:prstGeom>
        </p:spPr>
      </p:pic>
      <p:pic>
        <p:nvPicPr>
          <p:cNvPr id="113" name="Imagen 112">
            <a:extLst>
              <a:ext uri="{FF2B5EF4-FFF2-40B4-BE49-F238E27FC236}">
                <a16:creationId xmlns:a16="http://schemas.microsoft.com/office/drawing/2014/main" id="{4D5E7813-948A-202F-39AC-842CCD4542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93943" y="3955155"/>
            <a:ext cx="3048006" cy="3048006"/>
          </a:xfrm>
          <a:prstGeom prst="rect">
            <a:avLst/>
          </a:prstGeom>
        </p:spPr>
      </p:pic>
      <p:pic>
        <p:nvPicPr>
          <p:cNvPr id="117" name="Imagen 116">
            <a:extLst>
              <a:ext uri="{FF2B5EF4-FFF2-40B4-BE49-F238E27FC236}">
                <a16:creationId xmlns:a16="http://schemas.microsoft.com/office/drawing/2014/main" id="{479AC34A-EBC4-CB62-C116-A3BA60C0D2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4588120" y="733075"/>
            <a:ext cx="1333232" cy="1333232"/>
          </a:xfrm>
          <a:prstGeom prst="rect">
            <a:avLst/>
          </a:prstGeom>
        </p:spPr>
      </p:pic>
      <p:pic>
        <p:nvPicPr>
          <p:cNvPr id="119" name="Imagen 118">
            <a:extLst>
              <a:ext uri="{FF2B5EF4-FFF2-40B4-BE49-F238E27FC236}">
                <a16:creationId xmlns:a16="http://schemas.microsoft.com/office/drawing/2014/main" id="{1A0AA1CA-8F77-F955-750D-BDD15759AB8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68724" y="4840662"/>
            <a:ext cx="1433885" cy="1465749"/>
          </a:xfrm>
          <a:prstGeom prst="rect">
            <a:avLst/>
          </a:prstGeom>
        </p:spPr>
      </p:pic>
      <p:pic>
        <p:nvPicPr>
          <p:cNvPr id="124" name="Imagen 123">
            <a:extLst>
              <a:ext uri="{FF2B5EF4-FFF2-40B4-BE49-F238E27FC236}">
                <a16:creationId xmlns:a16="http://schemas.microsoft.com/office/drawing/2014/main" id="{8636DD45-2BB3-5998-F945-A9B39C49C32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623" y="896556"/>
            <a:ext cx="2289707" cy="1465749"/>
          </a:xfrm>
          <a:prstGeom prst="rect">
            <a:avLst/>
          </a:prstGeom>
        </p:spPr>
      </p:pic>
      <p:pic>
        <p:nvPicPr>
          <p:cNvPr id="128" name="Imagen 127">
            <a:extLst>
              <a:ext uri="{FF2B5EF4-FFF2-40B4-BE49-F238E27FC236}">
                <a16:creationId xmlns:a16="http://schemas.microsoft.com/office/drawing/2014/main" id="{EF4B3DB8-53B7-7154-CA78-4D9B5AFE664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26097" y="3201501"/>
            <a:ext cx="1073983" cy="1073983"/>
          </a:xfrm>
          <a:prstGeom prst="rect">
            <a:avLst/>
          </a:prstGeom>
        </p:spPr>
      </p:pic>
      <p:sp>
        <p:nvSpPr>
          <p:cNvPr id="129" name="CuadroTexto 128">
            <a:extLst>
              <a:ext uri="{FF2B5EF4-FFF2-40B4-BE49-F238E27FC236}">
                <a16:creationId xmlns:a16="http://schemas.microsoft.com/office/drawing/2014/main" id="{73CEF3DE-A4F2-8F8C-C397-8194697BBA8E}"/>
              </a:ext>
            </a:extLst>
          </p:cNvPr>
          <p:cNvSpPr txBox="1"/>
          <p:nvPr/>
        </p:nvSpPr>
        <p:spPr>
          <a:xfrm>
            <a:off x="3017738" y="1458615"/>
            <a:ext cx="12506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70,13 €</a:t>
            </a:r>
          </a:p>
        </p:txBody>
      </p:sp>
      <p:sp>
        <p:nvSpPr>
          <p:cNvPr id="130" name="CuadroTexto 129">
            <a:extLst>
              <a:ext uri="{FF2B5EF4-FFF2-40B4-BE49-F238E27FC236}">
                <a16:creationId xmlns:a16="http://schemas.microsoft.com/office/drawing/2014/main" id="{D867FD61-7B1F-258B-39A0-A82F7C6C02E6}"/>
              </a:ext>
            </a:extLst>
          </p:cNvPr>
          <p:cNvSpPr txBox="1"/>
          <p:nvPr/>
        </p:nvSpPr>
        <p:spPr>
          <a:xfrm>
            <a:off x="2758816" y="2801391"/>
            <a:ext cx="12506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11,95 €</a:t>
            </a:r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2D2D3436-6886-CB77-F80B-3D536E3BAC20}"/>
              </a:ext>
            </a:extLst>
          </p:cNvPr>
          <p:cNvSpPr txBox="1"/>
          <p:nvPr/>
        </p:nvSpPr>
        <p:spPr>
          <a:xfrm>
            <a:off x="2537358" y="3986250"/>
            <a:ext cx="11095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5,43 €</a:t>
            </a:r>
          </a:p>
        </p:txBody>
      </p: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2DBF1E5B-64D2-5F13-4C90-179D11FF1CB4}"/>
              </a:ext>
            </a:extLst>
          </p:cNvPr>
          <p:cNvSpPr txBox="1"/>
          <p:nvPr/>
        </p:nvSpPr>
        <p:spPr>
          <a:xfrm>
            <a:off x="2644924" y="5500436"/>
            <a:ext cx="12506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16,99 €</a:t>
            </a:r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029A48C2-A3E8-8CBC-37B4-541CC1A9F0CD}"/>
              </a:ext>
            </a:extLst>
          </p:cNvPr>
          <p:cNvSpPr txBox="1"/>
          <p:nvPr/>
        </p:nvSpPr>
        <p:spPr>
          <a:xfrm>
            <a:off x="5654895" y="1258560"/>
            <a:ext cx="12506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11,29 €</a:t>
            </a:r>
          </a:p>
        </p:txBody>
      </p:sp>
      <p:sp>
        <p:nvSpPr>
          <p:cNvPr id="134" name="CuadroTexto 133">
            <a:extLst>
              <a:ext uri="{FF2B5EF4-FFF2-40B4-BE49-F238E27FC236}">
                <a16:creationId xmlns:a16="http://schemas.microsoft.com/office/drawing/2014/main" id="{B0BB3135-1199-6538-3D93-88591BA62D05}"/>
              </a:ext>
            </a:extLst>
          </p:cNvPr>
          <p:cNvSpPr txBox="1"/>
          <p:nvPr/>
        </p:nvSpPr>
        <p:spPr>
          <a:xfrm>
            <a:off x="6116617" y="2333698"/>
            <a:ext cx="11095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2,70 €</a:t>
            </a:r>
          </a:p>
        </p:txBody>
      </p: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FF9D9226-D291-03AB-8722-1A431D1592BA}"/>
              </a:ext>
            </a:extLst>
          </p:cNvPr>
          <p:cNvSpPr txBox="1"/>
          <p:nvPr/>
        </p:nvSpPr>
        <p:spPr>
          <a:xfrm>
            <a:off x="5846513" y="3555045"/>
            <a:ext cx="11095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3,41 €</a:t>
            </a:r>
          </a:p>
        </p:txBody>
      </p:sp>
      <p:sp>
        <p:nvSpPr>
          <p:cNvPr id="136" name="CuadroTexto 135">
            <a:extLst>
              <a:ext uri="{FF2B5EF4-FFF2-40B4-BE49-F238E27FC236}">
                <a16:creationId xmlns:a16="http://schemas.microsoft.com/office/drawing/2014/main" id="{01EB051B-C054-9571-69AC-9CDB5462B950}"/>
              </a:ext>
            </a:extLst>
          </p:cNvPr>
          <p:cNvSpPr txBox="1"/>
          <p:nvPr/>
        </p:nvSpPr>
        <p:spPr>
          <a:xfrm>
            <a:off x="6260248" y="5641823"/>
            <a:ext cx="1391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163,18 €</a:t>
            </a:r>
          </a:p>
        </p:txBody>
      </p:sp>
      <p:sp>
        <p:nvSpPr>
          <p:cNvPr id="137" name="CuadroTexto 136">
            <a:extLst>
              <a:ext uri="{FF2B5EF4-FFF2-40B4-BE49-F238E27FC236}">
                <a16:creationId xmlns:a16="http://schemas.microsoft.com/office/drawing/2014/main" id="{17F4BAB3-51AE-4B53-D70A-958BFEBCCB63}"/>
              </a:ext>
            </a:extLst>
          </p:cNvPr>
          <p:cNvSpPr txBox="1"/>
          <p:nvPr/>
        </p:nvSpPr>
        <p:spPr>
          <a:xfrm>
            <a:off x="8605881" y="1067088"/>
            <a:ext cx="24175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1,18€/m = 1,18 € x 2,9 m = </a:t>
            </a:r>
            <a:r>
              <a:rPr lang="es-ES" sz="2000" u="sng" dirty="0">
                <a:solidFill>
                  <a:schemeClr val="bg1"/>
                </a:solidFill>
              </a:rPr>
              <a:t>3,422 €</a:t>
            </a:r>
          </a:p>
        </p:txBody>
      </p:sp>
      <p:sp>
        <p:nvSpPr>
          <p:cNvPr id="138" name="CuadroTexto 137">
            <a:extLst>
              <a:ext uri="{FF2B5EF4-FFF2-40B4-BE49-F238E27FC236}">
                <a16:creationId xmlns:a16="http://schemas.microsoft.com/office/drawing/2014/main" id="{760F9682-8F3F-F488-1DE5-A2C007DDCA9B}"/>
              </a:ext>
            </a:extLst>
          </p:cNvPr>
          <p:cNvSpPr txBox="1"/>
          <p:nvPr/>
        </p:nvSpPr>
        <p:spPr>
          <a:xfrm>
            <a:off x="8846415" y="2215237"/>
            <a:ext cx="29188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0,488€/PCS = 0,488 € x 7 PCS = </a:t>
            </a:r>
            <a:r>
              <a:rPr lang="es-ES" sz="2000" u="sng" dirty="0">
                <a:solidFill>
                  <a:schemeClr val="bg1"/>
                </a:solidFill>
              </a:rPr>
              <a:t>3,416 €</a:t>
            </a:r>
          </a:p>
        </p:txBody>
      </p:sp>
      <p:sp>
        <p:nvSpPr>
          <p:cNvPr id="139" name="CuadroTexto 138">
            <a:extLst>
              <a:ext uri="{FF2B5EF4-FFF2-40B4-BE49-F238E27FC236}">
                <a16:creationId xmlns:a16="http://schemas.microsoft.com/office/drawing/2014/main" id="{6F53077D-A219-48C0-CC31-806FDE956433}"/>
              </a:ext>
            </a:extLst>
          </p:cNvPr>
          <p:cNvSpPr txBox="1"/>
          <p:nvPr/>
        </p:nvSpPr>
        <p:spPr>
          <a:xfrm>
            <a:off x="9045509" y="3201102"/>
            <a:ext cx="30480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0,235 €/ PCS = 0,235 € x 8 PCS = </a:t>
            </a:r>
            <a:r>
              <a:rPr lang="es-ES" sz="2000" u="sng" dirty="0">
                <a:solidFill>
                  <a:schemeClr val="bg1"/>
                </a:solidFill>
              </a:rPr>
              <a:t>1,880 € </a:t>
            </a:r>
          </a:p>
        </p:txBody>
      </p:sp>
      <p:sp>
        <p:nvSpPr>
          <p:cNvPr id="140" name="CuadroTexto 139">
            <a:extLst>
              <a:ext uri="{FF2B5EF4-FFF2-40B4-BE49-F238E27FC236}">
                <a16:creationId xmlns:a16="http://schemas.microsoft.com/office/drawing/2014/main" id="{1FD6D50B-9179-FF32-2FA6-2AAFD1034F6D}"/>
              </a:ext>
            </a:extLst>
          </p:cNvPr>
          <p:cNvSpPr txBox="1"/>
          <p:nvPr/>
        </p:nvSpPr>
        <p:spPr>
          <a:xfrm>
            <a:off x="10227412" y="5186151"/>
            <a:ext cx="1391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181,50 €</a:t>
            </a:r>
          </a:p>
        </p:txBody>
      </p:sp>
    </p:spTree>
    <p:extLst>
      <p:ext uri="{BB962C8B-B14F-4D97-AF65-F5344CB8AC3E}">
        <p14:creationId xmlns:p14="http://schemas.microsoft.com/office/powerpoint/2010/main" val="19486816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9" grpId="0"/>
      <p:bldP spid="130" grpId="0"/>
      <p:bldP spid="131" grpId="0"/>
      <p:bldP spid="132" grpId="0"/>
      <p:bldP spid="133" grpId="0"/>
      <p:bldP spid="134" grpId="0"/>
      <p:bldP spid="135" grpId="0"/>
      <p:bldP spid="136" grpId="0"/>
      <p:bldP spid="137" grpId="0"/>
      <p:bldP spid="138" grpId="0"/>
      <p:bldP spid="139" grpId="0"/>
      <p:bldP spid="14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685E0-8029-053B-7C21-384D4DB45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F2B736-D1F6-5AFA-A2B5-1FECCC4137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6592" y="237458"/>
            <a:ext cx="8791575" cy="775263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4. Presupuesto.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B40AFAB-BBC5-FA09-8529-107954955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3539" y="6997774"/>
            <a:ext cx="3916688" cy="320041"/>
          </a:xfrm>
          <a:prstGeom prst="rect">
            <a:avLst/>
          </a:prstGeom>
        </p:spPr>
      </p:pic>
      <p:pic>
        <p:nvPicPr>
          <p:cNvPr id="69" name="Imagen 68">
            <a:extLst>
              <a:ext uri="{FF2B5EF4-FFF2-40B4-BE49-F238E27FC236}">
                <a16:creationId xmlns:a16="http://schemas.microsoft.com/office/drawing/2014/main" id="{4D9649A6-FE76-8FE9-A66D-E3A82D0EA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235" y="4268958"/>
            <a:ext cx="1936527" cy="589884"/>
          </a:xfrm>
          <a:prstGeom prst="rect">
            <a:avLst/>
          </a:prstGeom>
        </p:spPr>
      </p:pic>
      <p:pic>
        <p:nvPicPr>
          <p:cNvPr id="71" name="Imagen 70">
            <a:extLst>
              <a:ext uri="{FF2B5EF4-FFF2-40B4-BE49-F238E27FC236}">
                <a16:creationId xmlns:a16="http://schemas.microsoft.com/office/drawing/2014/main" id="{6BB54914-725C-263C-6887-F62ACAD1A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8138" y="2557998"/>
            <a:ext cx="1533083" cy="1533083"/>
          </a:xfrm>
          <a:prstGeom prst="rect">
            <a:avLst/>
          </a:prstGeom>
        </p:spPr>
      </p:pic>
      <p:pic>
        <p:nvPicPr>
          <p:cNvPr id="73" name="Imagen 72">
            <a:extLst>
              <a:ext uri="{FF2B5EF4-FFF2-40B4-BE49-F238E27FC236}">
                <a16:creationId xmlns:a16="http://schemas.microsoft.com/office/drawing/2014/main" id="{FA820553-4326-FFD7-2629-5D24138084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1107" y="5368788"/>
            <a:ext cx="1199601" cy="1309279"/>
          </a:xfrm>
          <a:prstGeom prst="rect">
            <a:avLst/>
          </a:prstGeom>
        </p:spPr>
      </p:pic>
      <p:pic>
        <p:nvPicPr>
          <p:cNvPr id="75" name="Imagen 74">
            <a:extLst>
              <a:ext uri="{FF2B5EF4-FFF2-40B4-BE49-F238E27FC236}">
                <a16:creationId xmlns:a16="http://schemas.microsoft.com/office/drawing/2014/main" id="{53E05668-0A8A-C55A-7420-4CAC5EC627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167" y="1255291"/>
            <a:ext cx="1534625" cy="1350287"/>
          </a:xfrm>
          <a:prstGeom prst="rect">
            <a:avLst/>
          </a:prstGeom>
        </p:spPr>
      </p:pic>
      <p:pic>
        <p:nvPicPr>
          <p:cNvPr id="79" name="Imagen 78">
            <a:extLst>
              <a:ext uri="{FF2B5EF4-FFF2-40B4-BE49-F238E27FC236}">
                <a16:creationId xmlns:a16="http://schemas.microsoft.com/office/drawing/2014/main" id="{2E35BA5F-3A22-AC21-B3F6-E35EE59107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1221" y="4796640"/>
            <a:ext cx="2058297" cy="1647577"/>
          </a:xfrm>
          <a:prstGeom prst="rect">
            <a:avLst/>
          </a:prstGeom>
        </p:spPr>
      </p:pic>
      <p:pic>
        <p:nvPicPr>
          <p:cNvPr id="81" name="Imagen 80">
            <a:extLst>
              <a:ext uri="{FF2B5EF4-FFF2-40B4-BE49-F238E27FC236}">
                <a16:creationId xmlns:a16="http://schemas.microsoft.com/office/drawing/2014/main" id="{157C6614-CEF6-183C-8BDC-06932D62F9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5908" y="800361"/>
            <a:ext cx="2058296" cy="2606068"/>
          </a:xfrm>
          <a:prstGeom prst="rect">
            <a:avLst/>
          </a:prstGeom>
        </p:spPr>
      </p:pic>
      <p:pic>
        <p:nvPicPr>
          <p:cNvPr id="89" name="Imagen 88">
            <a:extLst>
              <a:ext uri="{FF2B5EF4-FFF2-40B4-BE49-F238E27FC236}">
                <a16:creationId xmlns:a16="http://schemas.microsoft.com/office/drawing/2014/main" id="{10129340-7BFE-792B-CB0C-39A3A370CB8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7844" y="697431"/>
            <a:ext cx="1493523" cy="2346965"/>
          </a:xfrm>
          <a:prstGeom prst="rect">
            <a:avLst/>
          </a:prstGeom>
        </p:spPr>
      </p:pic>
      <p:pic>
        <p:nvPicPr>
          <p:cNvPr id="97" name="Imagen 96">
            <a:extLst>
              <a:ext uri="{FF2B5EF4-FFF2-40B4-BE49-F238E27FC236}">
                <a16:creationId xmlns:a16="http://schemas.microsoft.com/office/drawing/2014/main" id="{63D7901E-08A4-2D68-A955-0FE7AC06780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144" y="3269968"/>
            <a:ext cx="1378446" cy="1997746"/>
          </a:xfrm>
          <a:prstGeom prst="rect">
            <a:avLst/>
          </a:prstGeom>
        </p:spPr>
      </p:pic>
      <p:pic>
        <p:nvPicPr>
          <p:cNvPr id="101" name="Imagen 100">
            <a:extLst>
              <a:ext uri="{FF2B5EF4-FFF2-40B4-BE49-F238E27FC236}">
                <a16:creationId xmlns:a16="http://schemas.microsoft.com/office/drawing/2014/main" id="{C98410F5-4998-44AF-1912-9D766308CA2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5028" y="2858880"/>
            <a:ext cx="2438405" cy="1874524"/>
          </a:xfrm>
          <a:prstGeom prst="rect">
            <a:avLst/>
          </a:prstGeom>
        </p:spPr>
      </p:pic>
      <p:pic>
        <p:nvPicPr>
          <p:cNvPr id="115" name="Imagen 114">
            <a:extLst>
              <a:ext uri="{FF2B5EF4-FFF2-40B4-BE49-F238E27FC236}">
                <a16:creationId xmlns:a16="http://schemas.microsoft.com/office/drawing/2014/main" id="{5DB8FEC8-8D7C-DBC2-F7B1-E6253857242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6920" y="4741600"/>
            <a:ext cx="994688" cy="193646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EEABC7A-5E5E-75FB-761C-C29DBB4D3A07}"/>
              </a:ext>
            </a:extLst>
          </p:cNvPr>
          <p:cNvSpPr txBox="1"/>
          <p:nvPr/>
        </p:nvSpPr>
        <p:spPr>
          <a:xfrm>
            <a:off x="2118317" y="1725502"/>
            <a:ext cx="12506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72,64 €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357A4AE-D39D-9112-D99C-5932FC3C2B65}"/>
              </a:ext>
            </a:extLst>
          </p:cNvPr>
          <p:cNvSpPr txBox="1"/>
          <p:nvPr/>
        </p:nvSpPr>
        <p:spPr>
          <a:xfrm>
            <a:off x="2857104" y="3711373"/>
            <a:ext cx="1391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196,93 €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AD35995-FD40-15CE-5071-17A645341B23}"/>
              </a:ext>
            </a:extLst>
          </p:cNvPr>
          <p:cNvSpPr txBox="1"/>
          <p:nvPr/>
        </p:nvSpPr>
        <p:spPr>
          <a:xfrm>
            <a:off x="1755864" y="5144906"/>
            <a:ext cx="19613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27,72€/PCS = 27,72 € x 4 PCS = </a:t>
            </a:r>
            <a:r>
              <a:rPr lang="es-ES" sz="2000" u="sng" dirty="0">
                <a:solidFill>
                  <a:schemeClr val="bg1"/>
                </a:solidFill>
              </a:rPr>
              <a:t>110,88 €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9BE7FC7-A1C6-C990-FCE6-9FE5EBC7080E}"/>
              </a:ext>
            </a:extLst>
          </p:cNvPr>
          <p:cNvSpPr txBox="1"/>
          <p:nvPr/>
        </p:nvSpPr>
        <p:spPr>
          <a:xfrm>
            <a:off x="5325572" y="1595563"/>
            <a:ext cx="19977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23,37€/PCS = 23,37 € x 2 PCS = </a:t>
            </a:r>
            <a:r>
              <a:rPr lang="es-ES" sz="2000" u="sng" dirty="0">
                <a:solidFill>
                  <a:schemeClr val="bg1"/>
                </a:solidFill>
              </a:rPr>
              <a:t>46,74 €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C351CE6-3349-DBFF-A632-D25A7B37A9B9}"/>
              </a:ext>
            </a:extLst>
          </p:cNvPr>
          <p:cNvSpPr txBox="1"/>
          <p:nvPr/>
        </p:nvSpPr>
        <p:spPr>
          <a:xfrm>
            <a:off x="6146166" y="4068786"/>
            <a:ext cx="11095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7,05 €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0BB454C-4E2D-01EA-FC27-3BADBA6C80D2}"/>
              </a:ext>
            </a:extLst>
          </p:cNvPr>
          <p:cNvSpPr txBox="1"/>
          <p:nvPr/>
        </p:nvSpPr>
        <p:spPr>
          <a:xfrm>
            <a:off x="5429030" y="5570937"/>
            <a:ext cx="2838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1,442€/PCS = 1,442 € x 8 PCS = </a:t>
            </a:r>
            <a:r>
              <a:rPr lang="es-ES" sz="2000" u="sng" dirty="0">
                <a:solidFill>
                  <a:schemeClr val="bg1"/>
                </a:solidFill>
              </a:rPr>
              <a:t>11,536 €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F9B8248-31EB-D1E8-AC6B-F340EE8B1FE0}"/>
              </a:ext>
            </a:extLst>
          </p:cNvPr>
          <p:cNvSpPr txBox="1"/>
          <p:nvPr/>
        </p:nvSpPr>
        <p:spPr>
          <a:xfrm>
            <a:off x="8953819" y="1575728"/>
            <a:ext cx="2596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6,49€/PCS = 6,49 € x 2 PCS = </a:t>
            </a:r>
            <a:r>
              <a:rPr lang="es-ES" sz="2000" u="sng" dirty="0">
                <a:solidFill>
                  <a:schemeClr val="bg1"/>
                </a:solidFill>
              </a:rPr>
              <a:t>12,98 €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DBF0690-5408-33FC-275A-78FEAA97610F}"/>
              </a:ext>
            </a:extLst>
          </p:cNvPr>
          <p:cNvSpPr txBox="1"/>
          <p:nvPr/>
        </p:nvSpPr>
        <p:spPr>
          <a:xfrm>
            <a:off x="8858246" y="3025168"/>
            <a:ext cx="28829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1,895€/PCS = 1,895 € x 2 PCS = 3,79 €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B45098D-4F08-5AD9-4707-BE90582C978D}"/>
              </a:ext>
            </a:extLst>
          </p:cNvPr>
          <p:cNvSpPr txBox="1"/>
          <p:nvPr/>
        </p:nvSpPr>
        <p:spPr>
          <a:xfrm>
            <a:off x="9170237" y="4212992"/>
            <a:ext cx="2641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7,663€/m = 7,663 € x 1,55 m = 11,878 €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BE29F69-16F5-92BC-5B34-289EA95A0CCA}"/>
              </a:ext>
            </a:extLst>
          </p:cNvPr>
          <p:cNvSpPr txBox="1"/>
          <p:nvPr/>
        </p:nvSpPr>
        <p:spPr>
          <a:xfrm>
            <a:off x="10285481" y="5358165"/>
            <a:ext cx="11095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5,71 €</a:t>
            </a:r>
          </a:p>
        </p:txBody>
      </p:sp>
    </p:spTree>
    <p:extLst>
      <p:ext uri="{BB962C8B-B14F-4D97-AF65-F5344CB8AC3E}">
        <p14:creationId xmlns:p14="http://schemas.microsoft.com/office/powerpoint/2010/main" val="35478296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  <p:bldP spid="12" grpId="0"/>
      <p:bldP spid="14" grpId="0"/>
      <p:bldP spid="15" grpId="0"/>
      <p:bldP spid="16" grpId="0"/>
      <p:bldP spid="17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A6694-0B95-8256-F16C-BE42DC559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1792E6-675E-F6B1-357C-E90BBA690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6592" y="237458"/>
            <a:ext cx="8791575" cy="775263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4. Presupuesto.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C3198DA-9772-2FEE-760F-093C086FD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53" y="5369128"/>
            <a:ext cx="3916688" cy="32004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453F97B-E233-C089-4968-269A32BD2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453" y="4182346"/>
            <a:ext cx="3874016" cy="30175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3CD7C2D-1804-7DDA-3C39-E2E664158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453" y="3462919"/>
            <a:ext cx="3105444" cy="47886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0D10592-E965-C59E-89C9-4A2C772274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453" y="4786092"/>
            <a:ext cx="3877064" cy="29870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AE0645F-F689-02D5-22FC-FADEBF6CBC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453" y="3069704"/>
            <a:ext cx="3105444" cy="227523"/>
          </a:xfrm>
          <a:prstGeom prst="rect">
            <a:avLst/>
          </a:prstGeom>
        </p:spPr>
      </p:pic>
      <p:pic>
        <p:nvPicPr>
          <p:cNvPr id="87" name="Imagen 86">
            <a:extLst>
              <a:ext uri="{FF2B5EF4-FFF2-40B4-BE49-F238E27FC236}">
                <a16:creationId xmlns:a16="http://schemas.microsoft.com/office/drawing/2014/main" id="{307D61BD-31E0-E7F4-4FFC-183DDC5486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378" y="772643"/>
            <a:ext cx="2250393" cy="2250393"/>
          </a:xfrm>
          <a:prstGeom prst="rect">
            <a:avLst/>
          </a:prstGeom>
        </p:spPr>
      </p:pic>
      <p:pic>
        <p:nvPicPr>
          <p:cNvPr id="103" name="Imagen 102">
            <a:extLst>
              <a:ext uri="{FF2B5EF4-FFF2-40B4-BE49-F238E27FC236}">
                <a16:creationId xmlns:a16="http://schemas.microsoft.com/office/drawing/2014/main" id="{BBDF2731-BD34-D564-B7DA-41BAAC008D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3410" y="2840776"/>
            <a:ext cx="734346" cy="965093"/>
          </a:xfrm>
          <a:prstGeom prst="rect">
            <a:avLst/>
          </a:prstGeom>
        </p:spPr>
      </p:pic>
      <p:pic>
        <p:nvPicPr>
          <p:cNvPr id="105" name="Imagen 104">
            <a:extLst>
              <a:ext uri="{FF2B5EF4-FFF2-40B4-BE49-F238E27FC236}">
                <a16:creationId xmlns:a16="http://schemas.microsoft.com/office/drawing/2014/main" id="{C5BCC573-787F-00A8-F612-0FFF30D893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51818" y="4695236"/>
            <a:ext cx="581077" cy="965093"/>
          </a:xfrm>
          <a:prstGeom prst="rect">
            <a:avLst/>
          </a:prstGeom>
        </p:spPr>
      </p:pic>
      <p:pic>
        <p:nvPicPr>
          <p:cNvPr id="107" name="Imagen 106">
            <a:extLst>
              <a:ext uri="{FF2B5EF4-FFF2-40B4-BE49-F238E27FC236}">
                <a16:creationId xmlns:a16="http://schemas.microsoft.com/office/drawing/2014/main" id="{AA0D611D-26C2-9CC3-8A88-FC9C65F82EF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0" y="719514"/>
            <a:ext cx="643395" cy="965093"/>
          </a:xfrm>
          <a:prstGeom prst="rect">
            <a:avLst/>
          </a:prstGeom>
        </p:spPr>
      </p:pic>
      <p:pic>
        <p:nvPicPr>
          <p:cNvPr id="109" name="Imagen 108">
            <a:extLst>
              <a:ext uri="{FF2B5EF4-FFF2-40B4-BE49-F238E27FC236}">
                <a16:creationId xmlns:a16="http://schemas.microsoft.com/office/drawing/2014/main" id="{1A4D6CC3-7759-876D-AFD2-01BF525AB02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38997" y="1833409"/>
            <a:ext cx="646764" cy="96509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0025B9B-1BBE-A4C4-E603-1120650B5695}"/>
              </a:ext>
            </a:extLst>
          </p:cNvPr>
          <p:cNvSpPr txBox="1"/>
          <p:nvPr/>
        </p:nvSpPr>
        <p:spPr>
          <a:xfrm>
            <a:off x="2600217" y="1588965"/>
            <a:ext cx="31321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0,0413€/g = 0,0413 € x (25 g + 100 g) = </a:t>
            </a:r>
            <a:r>
              <a:rPr lang="es-ES" sz="2000" u="sng" dirty="0">
                <a:solidFill>
                  <a:schemeClr val="bg1"/>
                </a:solidFill>
              </a:rPr>
              <a:t>5,163 €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E08CC66-8525-0BE4-FAE2-9DF41589D52F}"/>
              </a:ext>
            </a:extLst>
          </p:cNvPr>
          <p:cNvSpPr txBox="1"/>
          <p:nvPr/>
        </p:nvSpPr>
        <p:spPr>
          <a:xfrm>
            <a:off x="3579696" y="2993242"/>
            <a:ext cx="46025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0,936€/m = 0,936 € x 1,8 m = </a:t>
            </a:r>
            <a:r>
              <a:rPr lang="es-ES" sz="2000" u="sng" dirty="0">
                <a:solidFill>
                  <a:schemeClr val="bg1"/>
                </a:solidFill>
              </a:rPr>
              <a:t>1,685 €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92D1114-5E16-CCD7-91D7-909690A909ED}"/>
              </a:ext>
            </a:extLst>
          </p:cNvPr>
          <p:cNvSpPr txBox="1"/>
          <p:nvPr/>
        </p:nvSpPr>
        <p:spPr>
          <a:xfrm>
            <a:off x="3545203" y="3523391"/>
            <a:ext cx="4772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0,936€/m = 0,936 € x 10,1 m = </a:t>
            </a:r>
            <a:r>
              <a:rPr lang="es-ES" sz="2000" u="sng" dirty="0">
                <a:solidFill>
                  <a:schemeClr val="bg1"/>
                </a:solidFill>
              </a:rPr>
              <a:t>9,454 €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4090A9A-C9D6-DC2A-7A80-98348F7A3509}"/>
              </a:ext>
            </a:extLst>
          </p:cNvPr>
          <p:cNvSpPr txBox="1"/>
          <p:nvPr/>
        </p:nvSpPr>
        <p:spPr>
          <a:xfrm>
            <a:off x="4269469" y="4154741"/>
            <a:ext cx="4772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1,491€/m = 1,491 € x 3,7 m = </a:t>
            </a:r>
            <a:r>
              <a:rPr lang="es-ES" sz="2000" u="sng" dirty="0">
                <a:solidFill>
                  <a:schemeClr val="bg1"/>
                </a:solidFill>
              </a:rPr>
              <a:t>5,517 €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039CBFF-9611-AEE2-4663-559050AAECA7}"/>
              </a:ext>
            </a:extLst>
          </p:cNvPr>
          <p:cNvSpPr txBox="1"/>
          <p:nvPr/>
        </p:nvSpPr>
        <p:spPr>
          <a:xfrm>
            <a:off x="4269469" y="4786091"/>
            <a:ext cx="4772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1,491€/m = 1,491 € x 2,9 m = </a:t>
            </a:r>
            <a:r>
              <a:rPr lang="es-ES" sz="2000" u="sng" dirty="0">
                <a:solidFill>
                  <a:schemeClr val="bg1"/>
                </a:solidFill>
              </a:rPr>
              <a:t>4,324€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971154C-0FF3-DEDF-3A7D-2352E2BDA445}"/>
              </a:ext>
            </a:extLst>
          </p:cNvPr>
          <p:cNvSpPr txBox="1"/>
          <p:nvPr/>
        </p:nvSpPr>
        <p:spPr>
          <a:xfrm>
            <a:off x="4269469" y="5326586"/>
            <a:ext cx="4772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1,491€/m = 1,491 € x 4 m = </a:t>
            </a:r>
            <a:r>
              <a:rPr lang="es-ES" sz="2000" u="sng" dirty="0">
                <a:solidFill>
                  <a:schemeClr val="bg1"/>
                </a:solidFill>
              </a:rPr>
              <a:t>5,964€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A2FCD6A-26F4-BDFE-68A2-88FCDA868ABA}"/>
              </a:ext>
            </a:extLst>
          </p:cNvPr>
          <p:cNvSpPr txBox="1"/>
          <p:nvPr/>
        </p:nvSpPr>
        <p:spPr>
          <a:xfrm>
            <a:off x="6601907" y="1042155"/>
            <a:ext cx="5171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0,046€/PCS = 0,046 € x 26 PCS = </a:t>
            </a:r>
            <a:r>
              <a:rPr lang="es-ES" sz="2000" u="sng" dirty="0">
                <a:solidFill>
                  <a:schemeClr val="bg1"/>
                </a:solidFill>
              </a:rPr>
              <a:t>1,196 €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9FEEF6F-BC05-DD70-7FAC-355EC033014F}"/>
              </a:ext>
            </a:extLst>
          </p:cNvPr>
          <p:cNvSpPr txBox="1"/>
          <p:nvPr/>
        </p:nvSpPr>
        <p:spPr>
          <a:xfrm>
            <a:off x="6585761" y="2130980"/>
            <a:ext cx="5027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0,052€/PCS = 0,052 € x 25 PCS = </a:t>
            </a:r>
            <a:r>
              <a:rPr lang="es-ES" sz="2000" u="sng" dirty="0">
                <a:solidFill>
                  <a:schemeClr val="bg1"/>
                </a:solidFill>
              </a:rPr>
              <a:t>1,30 €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266D528-AA4E-66CF-DD8A-91810849AA01}"/>
              </a:ext>
            </a:extLst>
          </p:cNvPr>
          <p:cNvSpPr txBox="1"/>
          <p:nvPr/>
        </p:nvSpPr>
        <p:spPr>
          <a:xfrm>
            <a:off x="9099430" y="2977463"/>
            <a:ext cx="28684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0,063€/PCS = 0,063 € x 10 PCS = </a:t>
            </a:r>
            <a:r>
              <a:rPr lang="es-ES" sz="2000" u="sng" dirty="0">
                <a:solidFill>
                  <a:schemeClr val="bg1"/>
                </a:solidFill>
              </a:rPr>
              <a:t>0,63€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89F55C4-61D3-65B7-259B-28B64AA1C10A}"/>
              </a:ext>
            </a:extLst>
          </p:cNvPr>
          <p:cNvSpPr txBox="1"/>
          <p:nvPr/>
        </p:nvSpPr>
        <p:spPr>
          <a:xfrm>
            <a:off x="9223918" y="4866604"/>
            <a:ext cx="28684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= 0,074€/PCS = 0,074 € x 9 PCS = </a:t>
            </a:r>
            <a:r>
              <a:rPr lang="es-ES" sz="2000" u="sng" dirty="0">
                <a:solidFill>
                  <a:schemeClr val="bg1"/>
                </a:solidFill>
              </a:rPr>
              <a:t>0,666€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B103A35-5531-BA61-F7E7-2CC1C5A1FC83}"/>
              </a:ext>
            </a:extLst>
          </p:cNvPr>
          <p:cNvSpPr txBox="1"/>
          <p:nvPr/>
        </p:nvSpPr>
        <p:spPr>
          <a:xfrm>
            <a:off x="4056847" y="5952359"/>
            <a:ext cx="37643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</a:rPr>
              <a:t>TOTAL = 1058,818 €</a:t>
            </a:r>
            <a:endParaRPr lang="es-ES" sz="3200" b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553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4" grpId="0"/>
      <p:bldP spid="3" grpId="0"/>
      <p:bldP spid="16" grpId="0"/>
      <p:bldP spid="17" grpId="0"/>
      <p:bldP spid="18" grpId="0"/>
      <p:bldP spid="21" grpId="0"/>
      <p:bldP spid="22" grpId="0"/>
      <p:bldP spid="23" grpId="0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78432-46F1-7742-82CF-A647A3EA5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E5B3D5-5792-C53A-48BD-7080FC2DC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6592" y="257123"/>
            <a:ext cx="8791575" cy="775263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5. Conclusiones.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E5A4A9-BE66-49C6-EE46-7F9ABCBF3C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1032386"/>
            <a:ext cx="9440505" cy="2703872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Los resultados obtenidos del proyecto alcanzan los objetivos del mismo pudiendo ampliar a más dispositivos o accesos a servicios en red, con el inconveniente que cara a futuras ampliaciones para añadir más servicios en red es mejor utilizar un sistema operativo que nos permita instalar e iniciar varias máquinas virtuales al mismo tiempo (un hipervisor) como </a:t>
            </a:r>
            <a:r>
              <a:rPr lang="es-ES" dirty="0" err="1">
                <a:solidFill>
                  <a:schemeClr val="bg1"/>
                </a:solidFill>
              </a:rPr>
              <a:t>Proxmox</a:t>
            </a:r>
            <a:r>
              <a:rPr lang="es-ES" dirty="0">
                <a:solidFill>
                  <a:schemeClr val="bg1"/>
                </a:solidFill>
              </a:rPr>
              <a:t> además de utilizar un ordenador con mejores recursos para soportar dichas ampliaciones de servicios en red.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85F2818-254C-8E5F-9620-D3699865D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849" y="3823263"/>
            <a:ext cx="1958301" cy="130814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00AE51C-5370-7EAF-699B-49E7CD336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847" y="3823263"/>
            <a:ext cx="2616290" cy="130814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726DDFB-87CB-A77B-3E67-F2A4F4E7C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9828" y="3823263"/>
            <a:ext cx="1308145" cy="130814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FC92854-4911-0F59-D6F2-6CC41308EE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5327" y="5739956"/>
            <a:ext cx="3441345" cy="860921"/>
          </a:xfrm>
          <a:prstGeom prst="rect">
            <a:avLst/>
          </a:prstGeom>
        </p:spPr>
      </p:pic>
      <p:sp>
        <p:nvSpPr>
          <p:cNvPr id="14" name="Flecha: arriba y abajo 13">
            <a:extLst>
              <a:ext uri="{FF2B5EF4-FFF2-40B4-BE49-F238E27FC236}">
                <a16:creationId xmlns:a16="http://schemas.microsoft.com/office/drawing/2014/main" id="{E14B6B03-9E1A-B5A1-5DED-A96885C87393}"/>
              </a:ext>
            </a:extLst>
          </p:cNvPr>
          <p:cNvSpPr/>
          <p:nvPr/>
        </p:nvSpPr>
        <p:spPr>
          <a:xfrm>
            <a:off x="6051785" y="5144108"/>
            <a:ext cx="88428" cy="694206"/>
          </a:xfrm>
          <a:prstGeom prst="upDownArrow">
            <a:avLst>
              <a:gd name="adj1" fmla="val 18000"/>
              <a:gd name="adj2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/>
          </a:p>
        </p:txBody>
      </p:sp>
      <p:sp>
        <p:nvSpPr>
          <p:cNvPr id="15" name="Flecha: arriba y abajo 14">
            <a:extLst>
              <a:ext uri="{FF2B5EF4-FFF2-40B4-BE49-F238E27FC236}">
                <a16:creationId xmlns:a16="http://schemas.microsoft.com/office/drawing/2014/main" id="{C134D1E8-EFCB-C11B-0F2C-DFE95B2676A0}"/>
              </a:ext>
            </a:extLst>
          </p:cNvPr>
          <p:cNvSpPr/>
          <p:nvPr/>
        </p:nvSpPr>
        <p:spPr>
          <a:xfrm rot="16200000">
            <a:off x="4131755" y="3543041"/>
            <a:ext cx="88428" cy="1868587"/>
          </a:xfrm>
          <a:prstGeom prst="upDownArrow">
            <a:avLst>
              <a:gd name="adj1" fmla="val 18000"/>
              <a:gd name="adj2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/>
          </a:p>
        </p:txBody>
      </p:sp>
      <p:sp>
        <p:nvSpPr>
          <p:cNvPr id="16" name="Flecha: arriba y abajo 15">
            <a:extLst>
              <a:ext uri="{FF2B5EF4-FFF2-40B4-BE49-F238E27FC236}">
                <a16:creationId xmlns:a16="http://schemas.microsoft.com/office/drawing/2014/main" id="{11EC079F-9890-CB04-3FF5-0DADEBC1B502}"/>
              </a:ext>
            </a:extLst>
          </p:cNvPr>
          <p:cNvSpPr/>
          <p:nvPr/>
        </p:nvSpPr>
        <p:spPr>
          <a:xfrm rot="16200000">
            <a:off x="7750863" y="3768170"/>
            <a:ext cx="88428" cy="1418329"/>
          </a:xfrm>
          <a:prstGeom prst="upDownArrow">
            <a:avLst>
              <a:gd name="adj1" fmla="val 18000"/>
              <a:gd name="adj2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96834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4" grpId="0" animBg="1"/>
      <p:bldP spid="15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D4CC9-D553-3A9F-12FE-D2F51F193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48C7B7-624C-C351-FFCC-8C41B9FCD3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765431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6. Planos y esquemas.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0BD1AB-8527-4895-1158-20D8BB9B1E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1887794"/>
            <a:ext cx="8791575" cy="3370006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chemeClr val="bg1"/>
                </a:solidFill>
              </a:rPr>
              <a:t>6.1. Plano Dormitorio Principal.</a:t>
            </a:r>
          </a:p>
          <a:p>
            <a:r>
              <a:rPr lang="es-ES" sz="3200" dirty="0">
                <a:solidFill>
                  <a:schemeClr val="bg1"/>
                </a:solidFill>
              </a:rPr>
              <a:t>6.2. plano 1 maqueta.</a:t>
            </a:r>
          </a:p>
          <a:p>
            <a:r>
              <a:rPr lang="es-ES" sz="3200" dirty="0">
                <a:solidFill>
                  <a:schemeClr val="bg1"/>
                </a:solidFill>
              </a:rPr>
              <a:t>6.3. plano 2 maqueta.</a:t>
            </a:r>
          </a:p>
          <a:p>
            <a:r>
              <a:rPr lang="es-ES" sz="3200" dirty="0">
                <a:solidFill>
                  <a:schemeClr val="bg1"/>
                </a:solidFill>
              </a:rPr>
              <a:t>6.4. Esquema eléctrico.</a:t>
            </a:r>
          </a:p>
        </p:txBody>
      </p:sp>
    </p:spTree>
    <p:extLst>
      <p:ext uri="{BB962C8B-B14F-4D97-AF65-F5344CB8AC3E}">
        <p14:creationId xmlns:p14="http://schemas.microsoft.com/office/powerpoint/2010/main" val="6476391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33A5F-197F-2C76-0550-E060ED99F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BFB953-F380-3A4B-0A2E-56953A5FCC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6592" y="247294"/>
            <a:ext cx="9460170" cy="75559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6.1. Plano Dormitorio Principal.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706889B-B9D0-9701-8706-14EF0BC5D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152887" y="-346165"/>
            <a:ext cx="5886225" cy="832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8423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C1B67-9475-7B66-D40A-F3E685B69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577E90-2E09-6238-AA63-1F14678476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6592" y="247289"/>
            <a:ext cx="8791575" cy="75559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6.2. plano 1 maqueta.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B11DCCD-ED94-4666-F46B-22A94AEBB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134531" y="-351157"/>
            <a:ext cx="5922938" cy="837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201633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572ED-0100-4F14-351D-3CA95344D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579AD-B953-7ACD-948D-3D90C01DA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6592" y="247288"/>
            <a:ext cx="8791575" cy="75559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6.3. plano 2 maqueta.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CC51374-C64A-6EB1-81F4-C7A786255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135508" y="-380052"/>
            <a:ext cx="5920983" cy="837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94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75247-842E-4702-BEEC-FE88D750E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A5626-B3E8-B2BB-A5E2-A5F1FA13B3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6592" y="217796"/>
            <a:ext cx="8791575" cy="785095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6.4. Esquema eléctrico.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F73D0FF-3C9C-C203-38E5-A2F239F2C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537" y="893567"/>
            <a:ext cx="8310926" cy="587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06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1EA9C-B477-5E76-B419-769363CFA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DDE570-FB1A-2CC1-794C-317125BC6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5915" y="2711988"/>
            <a:ext cx="9460170" cy="1434024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7. Explicación del funcionamiento de la maqueta.</a:t>
            </a:r>
          </a:p>
        </p:txBody>
      </p:sp>
    </p:spTree>
    <p:extLst>
      <p:ext uri="{BB962C8B-B14F-4D97-AF65-F5344CB8AC3E}">
        <p14:creationId xmlns:p14="http://schemas.microsoft.com/office/powerpoint/2010/main" val="1077181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65A3E1-40AB-CE0D-847D-5E7CC4EB1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8A7AAA-215C-0E0A-3BC3-98F71267A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2170390"/>
            <a:ext cx="11887200" cy="2517220"/>
          </a:xfrm>
        </p:spPr>
        <p:txBody>
          <a:bodyPr>
            <a:noAutofit/>
          </a:bodyPr>
          <a:lstStyle/>
          <a:p>
            <a:pPr algn="ctr"/>
            <a:r>
              <a:rPr lang="es-ES" sz="8000" dirty="0">
                <a:latin typeface="Impact" panose="020B0806030902050204" pitchFamily="34" charset="0"/>
              </a:rPr>
              <a:t>Gracias por vuestra atención</a:t>
            </a:r>
          </a:p>
        </p:txBody>
      </p:sp>
    </p:spTree>
    <p:extLst>
      <p:ext uri="{BB962C8B-B14F-4D97-AF65-F5344CB8AC3E}">
        <p14:creationId xmlns:p14="http://schemas.microsoft.com/office/powerpoint/2010/main" val="15582414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Circuito</Template>
  <TotalTime>974</TotalTime>
  <Words>961</Words>
  <Application>Microsoft Office PowerPoint</Application>
  <PresentationFormat>Panorámica</PresentationFormat>
  <Paragraphs>76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Impact</vt:lpstr>
      <vt:lpstr>Tw Cen MT</vt:lpstr>
      <vt:lpstr>Circuito</vt:lpstr>
      <vt:lpstr>Proyecto iot con home assistant</vt:lpstr>
      <vt:lpstr>ÍNDICE:</vt:lpstr>
      <vt:lpstr>1. Introducción.</vt:lpstr>
      <vt:lpstr>1.1 Justificación.</vt:lpstr>
      <vt:lpstr>1.2. ¿Qué es el Iot?</vt:lpstr>
      <vt:lpstr>1.3. ¿Qué ofrece Home Assistant?</vt:lpstr>
      <vt:lpstr>1.4. Objetivos.</vt:lpstr>
      <vt:lpstr>2. Creación y configuración de LA maqueta.</vt:lpstr>
      <vt:lpstr>3. Resultados.</vt:lpstr>
      <vt:lpstr>4. Presupuesto.</vt:lpstr>
      <vt:lpstr>4. Presupuesto.</vt:lpstr>
      <vt:lpstr>4. Presupuesto.</vt:lpstr>
      <vt:lpstr>5. Conclusiones.</vt:lpstr>
      <vt:lpstr>6. Planos y esquemas.</vt:lpstr>
      <vt:lpstr>6.1. Plano Dormitorio Principal.</vt:lpstr>
      <vt:lpstr>6.2. plano 1 maqueta.</vt:lpstr>
      <vt:lpstr>6.3. plano 2 maqueta.</vt:lpstr>
      <vt:lpstr>6.4. Esquema eléctrico.</vt:lpstr>
      <vt:lpstr>7. Explicación del funcionamiento de la maqueta.</vt:lpstr>
      <vt:lpstr>Gracias por vuestra atención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sergio Mártin Vázquez</dc:creator>
  <cp:lastModifiedBy>sergio Mártin Vázquez</cp:lastModifiedBy>
  <cp:revision>34</cp:revision>
  <dcterms:created xsi:type="dcterms:W3CDTF">2025-06-12T23:39:11Z</dcterms:created>
  <dcterms:modified xsi:type="dcterms:W3CDTF">2025-06-16T09:19:31Z</dcterms:modified>
</cp:coreProperties>
</file>